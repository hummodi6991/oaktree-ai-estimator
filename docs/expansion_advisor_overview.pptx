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64592" cy="2286000"/>
          </a:xfrm>
          <a:prstGeom prst="rect">
            <a:avLst/>
          </a:prstGeom>
          <a:solidFill>
            <a:srgbClr val="C9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DDC2"/>
                </a:solidFill>
                <a:latin typeface="Calibri"/>
              </a:rPr>
              <a:t>OAKTREE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Expansion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E8DDC2"/>
                </a:solidFill>
                <a:latin typeface="Calibri"/>
              </a:rPr>
              <a:t>How it works: data, scoring, gates, and the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E8DDC2"/>
                </a:solidFill>
                <a:latin typeface="Calibri"/>
              </a:rPr>
              <a:t>Riyadh-first restaurant &amp; retail location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 walk-through for analysts and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8DDC2"/>
                </a:solidFill>
                <a:latin typeface="Calibri"/>
              </a:rPr>
              <a:t>Covers data flow · gates · scoring · Decision Memory ·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01 ·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What the Expansion Advisor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An AI-assisted location-recommendation engine for F&amp;B brands expanding in Riyadh.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657600" cy="3931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Brand profile</a:t>
            </a:r>
            <a:r>
              <a:rPr sz="1100">
                <a:solidFill>
                  <a:srgbClr val="1A1A1A"/>
                </a:solidFill>
                <a:latin typeface="Calibri"/>
              </a:rPr>
              <a:t> — name, category, price tier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Service model</a:t>
            </a:r>
            <a:r>
              <a:rPr sz="1100">
                <a:solidFill>
                  <a:srgbClr val="1A1A1A"/>
                </a:solidFill>
                <a:latin typeface="Calibri"/>
              </a:rPr>
              <a:t> — QSR, dine-in, delivery-first, café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Area &amp; districts</a:t>
            </a:r>
            <a:r>
              <a:rPr sz="1100">
                <a:solidFill>
                  <a:srgbClr val="1A1A1A"/>
                </a:solidFill>
                <a:latin typeface="Calibri"/>
              </a:rPr>
              <a:t> — min/max m², target districts, bbox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Existing branches</a:t>
            </a:r>
            <a:r>
              <a:rPr sz="1100">
                <a:solidFill>
                  <a:srgbClr val="1A1A1A"/>
                </a:solidFill>
                <a:latin typeface="Calibri"/>
              </a:rPr>
              <a:t> — for cannibalization analysis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 goal</a:t>
            </a:r>
            <a:r>
              <a:rPr sz="1100">
                <a:solidFill>
                  <a:srgbClr val="1A1A1A"/>
                </a:solidFill>
                <a:latin typeface="Calibri"/>
              </a:rPr>
              <a:t> — growth shape and tolerance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3931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54203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7180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Candidate pool</a:t>
            </a:r>
            <a:r>
              <a:rPr sz="1100">
                <a:solidFill>
                  <a:srgbClr val="1A1A1A"/>
                </a:solidFill>
                <a:latin typeface="Calibri"/>
              </a:rPr>
              <a:t> — stratified by district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Context enrichment</a:t>
            </a:r>
            <a:r>
              <a:rPr sz="1100">
                <a:solidFill>
                  <a:srgbClr val="1A1A1A"/>
                </a:solidFill>
                <a:latin typeface="Calibri"/>
              </a:rPr>
              <a:t> — roads, parking, delivery, comps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Gates</a:t>
            </a:r>
            <a:r>
              <a:rPr sz="1100">
                <a:solidFill>
                  <a:srgbClr val="1A1A1A"/>
                </a:solidFill>
                <a:latin typeface="Calibri"/>
              </a:rPr>
              <a:t> — zoning, area, access, economics, ...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Score 6 dimensions</a:t>
            </a:r>
            <a:r>
              <a:rPr sz="1100">
                <a:solidFill>
                  <a:srgbClr val="1A1A1A"/>
                </a:solidFill>
                <a:latin typeface="Calibri"/>
              </a:rPr>
              <a:t> — weighted composite 0–100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LLM rerank + memo</a:t>
            </a:r>
            <a:r>
              <a:rPr sz="1100">
                <a:solidFill>
                  <a:srgbClr val="1A1A1A"/>
                </a:solidFill>
                <a:latin typeface="Calibri"/>
              </a:rPr>
              <a:t> — structured, cached, pre-warmed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68880"/>
            <a:ext cx="3657600" cy="3931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46888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54203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7180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Ranked candidates</a:t>
            </a:r>
            <a:r>
              <a:rPr sz="1100">
                <a:solidFill>
                  <a:srgbClr val="1A1A1A"/>
                </a:solidFill>
                <a:latin typeface="Calibri"/>
              </a:rPr>
              <a:t> — with score breakdown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Decision Memory</a:t>
            </a:r>
            <a:r>
              <a:rPr sz="1100">
                <a:solidFill>
                  <a:srgbClr val="1A1A1A"/>
                </a:solidFill>
                <a:latin typeface="Calibri"/>
              </a:rPr>
              <a:t> — narrative + diagnostics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Verdict</a:t>
            </a:r>
            <a:r>
              <a:rPr sz="1100">
                <a:solidFill>
                  <a:srgbClr val="1A1A1A"/>
                </a:solidFill>
                <a:latin typeface="Calibri"/>
              </a:rPr>
              <a:t> — GO / CAUTION / RECONSIDER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Comparable competitors</a:t>
            </a:r>
            <a:r>
              <a:rPr sz="1100">
                <a:solidFill>
                  <a:srgbClr val="1A1A1A"/>
                </a:solidFill>
                <a:latin typeface="Calibri"/>
              </a:rPr>
              <a:t> — and risk list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Compare &amp; Report views</a:t>
            </a:r>
            <a:r>
              <a:rPr sz="1100">
                <a:solidFill>
                  <a:srgbClr val="1A1A1A"/>
                </a:solidFill>
                <a:latin typeface="Calibri"/>
              </a:rPr>
              <a:t> — shortlist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Service version: expansion_advisor_v7  ·  Riyadh only  ·  parcel source: listings_only (Aqar, Wasalt, Bayut)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02 ·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End-to-end pipeline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337310" cy="1554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brand, area,
districts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5950" y="2194560"/>
            <a:ext cx="1337310" cy="155448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595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595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595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parcels +
listings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4700" y="2194560"/>
            <a:ext cx="1337310" cy="1554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470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470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470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roads · parking ·
delivery · comps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3450" y="2194560"/>
            <a:ext cx="1337310" cy="155448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345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345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345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structural &amp;
operational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194560"/>
            <a:ext cx="1337310" cy="1554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6 weighted
dimensions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0950" y="2194560"/>
            <a:ext cx="1337310" cy="155448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095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095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095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LLM shortlist
(optional)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9700" y="2194560"/>
            <a:ext cx="1337310" cy="1554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970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970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970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structured
decision memory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58450" y="2194560"/>
            <a:ext cx="1337310" cy="155448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58450" y="2377440"/>
            <a:ext cx="133731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DDC2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8450" y="2788920"/>
            <a:ext cx="133731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8450" y="3154680"/>
            <a:ext cx="13373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E8DDC2"/>
                </a:solidFill>
                <a:latin typeface="Calibri"/>
              </a:rPr>
              <a:t>results +
diagnostics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What the user does vs. what the system does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72000"/>
            <a:ext cx="557784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5720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6451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0749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Defines brand profile and area constraints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Adds existing branches (cannibalization)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Picks target districts (optional)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Reviews verdict + memo, compares finalists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572000"/>
            <a:ext cx="557784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5720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6451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0749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Builds candidate pool from listings + parcels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Applies hard-fail and advisory gates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Computes weighted scores + cannibalization + value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Generates structured decision memo (LLM, cached)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03 ·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Data sources powering the Advisor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Two layers: persisted search/candidate state, and refreshed Riyadh-specific context 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577840" cy="4023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PERSISTED STATE  (per search)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803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expansion_search</a:t>
            </a:r>
            <a:r>
              <a:rPr sz="1100">
                <a:solidFill>
                  <a:srgbClr val="1A1A1A"/>
                </a:solidFill>
                <a:latin typeface="Calibri"/>
              </a:rPr>
              <a:t> — brand, category, bounds, request JSON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expansion_search_brand_profile</a:t>
            </a:r>
            <a:r>
              <a:rPr sz="1100">
                <a:solidFill>
                  <a:srgbClr val="1A1A1A"/>
                </a:solidFill>
                <a:latin typeface="Calibri"/>
              </a:rPr>
              <a:t> — price tier, sensitivity, goal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expansion_search_existing_branch</a:t>
            </a:r>
            <a:r>
              <a:rPr sz="1100">
                <a:solidFill>
                  <a:srgbClr val="1A1A1A"/>
                </a:solidFill>
                <a:latin typeface="Calibri"/>
              </a:rPr>
              <a:t> — user branches for cannibalization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expansion_candidate</a:t>
            </a:r>
            <a:r>
              <a:rPr sz="1100">
                <a:solidFill>
                  <a:srgbClr val="1A1A1A"/>
                </a:solidFill>
                <a:latin typeface="Calibri"/>
              </a:rPr>
              <a:t> — scores, gates, snapshots, memo, rerank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expansion_candidate_feature_snapshot</a:t>
            </a:r>
            <a:r>
              <a:rPr sz="1100">
                <a:solidFill>
                  <a:srgbClr val="1A1A1A"/>
                </a:solidFill>
                <a:latin typeface="Calibri"/>
              </a:rPr>
              <a:t> — context cache per candidate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expansion_saved_search</a:t>
            </a:r>
            <a:r>
              <a:rPr sz="1100">
                <a:solidFill>
                  <a:srgbClr val="1A1A1A"/>
                </a:solidFill>
                <a:latin typeface="Calibri"/>
              </a:rPr>
              <a:t> — title, filters, selected candidates, UI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577840" cy="4023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45059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CONTEXT  (refreshed weekly via GitHub Actions)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expansion_road_context</a:t>
            </a:r>
            <a:r>
              <a:rPr sz="1100">
                <a:solidFill>
                  <a:srgbClr val="1A1A1A"/>
                </a:solidFill>
                <a:latin typeface="Calibri"/>
              </a:rPr>
              <a:t> — OSM roads → access &amp; visibility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expansion_parking_asset</a:t>
            </a:r>
            <a:r>
              <a:rPr sz="1100">
                <a:solidFill>
                  <a:srgbClr val="1A1A1A"/>
                </a:solidFill>
                <a:latin typeface="Calibri"/>
              </a:rPr>
              <a:t> — OSM parking → parking_score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expansion_delivery_market</a:t>
            </a:r>
            <a:r>
              <a:rPr sz="1100">
                <a:solidFill>
                  <a:srgbClr val="1A1A1A"/>
                </a:solidFill>
                <a:latin typeface="Calibri"/>
              </a:rPr>
              <a:t> — Hungerstation/Jahez/Mrsool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expansion_rent_comp</a:t>
            </a:r>
            <a:r>
              <a:rPr sz="1100">
                <a:solidFill>
                  <a:srgbClr val="1A1A1A"/>
                </a:solidFill>
                <a:latin typeface="Calibri"/>
              </a:rPr>
              <a:t> — rent comparables by district &amp; asset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expansion_competitor_quality</a:t>
            </a:r>
            <a:r>
              <a:rPr sz="1100">
                <a:solidFill>
                  <a:srgbClr val="1A1A1A"/>
                </a:solidFill>
                <a:latin typeface="Calibri"/>
              </a:rPr>
              <a:t> — POI + delivery + Google reviews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riyadh_parcels_arcgis_proxy</a:t>
            </a:r>
            <a:r>
              <a:rPr sz="1100">
                <a:solidFill>
                  <a:srgbClr val="1A1A1A"/>
                </a:solidFill>
                <a:latin typeface="Calibri"/>
              </a:rPr>
              <a:t> — base parcel pool (Tier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Sources fall back safely when context tables are empty; provenance kept in feature_snapshot.context_sources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03 · DATA ·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Context tables — what each one feeds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338560" cy="41148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38527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38527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38527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Key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38527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Used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5999"/>
            <a:ext cx="1133856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743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2C3F"/>
                </a:solidFill>
                <a:latin typeface="Calibri"/>
              </a:rPr>
              <a:t>expansion_road_context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377439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OSM (planet_osm_line / roads)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377439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road class, frontage_length_m, corner_lot, major-road touch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39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access_score, frontage_score,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39"/>
            <a:ext cx="113385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7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2C3F"/>
                </a:solidFill>
                <a:latin typeface="Calibri"/>
              </a:rPr>
              <a:t>expansion_parking_asset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54679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OSM polygon /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154679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amenity_type, capacity, walk_access_score, dropoff_score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154679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parking_score, parking_pass 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79"/>
            <a:ext cx="1133856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3191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2C3F"/>
                </a:solidFill>
                <a:latin typeface="Calibri"/>
              </a:rPr>
              <a:t>expansion_delivery_market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931919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delivery_source_record (normalized)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931919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platform, brand, category, rating, ETA, late-night 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31919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delivery_demand, multi-platform presence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17719"/>
            <a:ext cx="113385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0915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2C3F"/>
                </a:solidFill>
                <a:latin typeface="Calibri"/>
              </a:rPr>
              <a:t>expansion_rent_comp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709159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rent_comp + Aqar/Kaggle/CSV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709159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district, asset_type, rent_sar_m2_year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709159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rent estimation, rent_burden, value chip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59"/>
            <a:ext cx="1133856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8639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2C3F"/>
                </a:solidFill>
                <a:latin typeface="Calibri"/>
              </a:rPr>
              <a:t>expansion_competitor_quality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486399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restaurant_poi + delivery + Google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5486399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chain_strength, review_score, delivery_presence, overall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486399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competition_whitespace, comparable competitors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Each ingestion job runs on its own day; failures fall back to legacy sources, never silently degrade scoring.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03 · DATA · 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Weekly ingestion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Each context table is refreshed by a dedicated GitHub Actions workflow. All can also be triggered manually.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82880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MON 03:00 UTC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468880"/>
            <a:ext cx="950976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51460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Roads &amp;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9806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expansion-advisor-data-roads.yml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334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→  expansion_road_context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82880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1071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TUE 04:00 UTC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246120"/>
            <a:ext cx="950976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32918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Parking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7530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expansion-advisor-data-parking.yml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1071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→  expansion_parking_asset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82880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879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WED 05:00 UTC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4023360"/>
            <a:ext cx="950976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0690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Delivery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35254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expansion-advisor-data-delivery.yml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1879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→  expansion_delivery_market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82880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6519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THU 06:00 UTC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4800600"/>
            <a:ext cx="950976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48463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Rent &amp; Lease Comps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12978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expansion-advisor-data-rent-comps.yml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9651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→  expansion_rent_comp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77840"/>
            <a:ext cx="182880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4243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FRI 07:00 UTC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5577840"/>
            <a:ext cx="950976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562356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Competitor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90702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expansion-advisor-data-competitors.yml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7424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→  expansion_competitor_quality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Verify: SELECT COUNT(*) per table  ·  Provenance recorded in feature_snapshot.context_sources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04 ·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Candidate pool and context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TIERED CANDIDATE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Tier 1</a:t>
            </a:r>
            <a:r>
              <a:rPr sz="1100">
                <a:solidFill>
                  <a:srgbClr val="1A1A1A"/>
                </a:solidFill>
                <a:latin typeface="Calibri"/>
              </a:rPr>
              <a:t> — Aqar listings with rent (preferred)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Tier 2</a:t>
            </a:r>
            <a:r>
              <a:rPr sz="1100">
                <a:solidFill>
                  <a:srgbClr val="1A1A1A"/>
                </a:solidFill>
                <a:latin typeface="Calibri"/>
              </a:rPr>
              <a:t> — occupied delivery POI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Tier 3</a:t>
            </a:r>
            <a:r>
              <a:rPr sz="1100">
                <a:solidFill>
                  <a:srgbClr val="1A1A1A"/>
                </a:solidFill>
                <a:latin typeface="Calibri"/>
              </a:rPr>
              <a:t> — ArcGIS parcels (riyadh_parcels_arcgis_proxy)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Stratification</a:t>
            </a:r>
            <a:r>
              <a:rPr sz="1100">
                <a:solidFill>
                  <a:srgbClr val="1A1A1A"/>
                </a:solidFill>
                <a:latin typeface="Calibri"/>
              </a:rPr>
              <a:t> — ≤ 200 per district, max 2,000 total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Headroom</a:t>
            </a:r>
            <a:r>
              <a:rPr sz="1100">
                <a:solidFill>
                  <a:srgbClr val="1A1A1A"/>
                </a:solidFill>
                <a:latin typeface="Calibri"/>
              </a:rPr>
              <a:t> — 3× pool kept for scoring &amp; rerank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ENRICHMENT (LATERAL JOINs)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317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Roads</a:t>
            </a:r>
            <a:r>
              <a:rPr sz="1100">
                <a:solidFill>
                  <a:srgbClr val="1A1A1A"/>
                </a:solidFill>
                <a:latin typeface="Calibri"/>
              </a:rPr>
              <a:t> — distance to major road, frontage, corner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Parking</a:t>
            </a:r>
            <a:r>
              <a:rPr sz="1100">
                <a:solidFill>
                  <a:srgbClr val="1A1A1A"/>
                </a:solidFill>
                <a:latin typeface="Calibri"/>
              </a:rPr>
              <a:t> — nearby capacity, walk-access score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Population</a:t>
            </a:r>
            <a:r>
              <a:rPr sz="1100">
                <a:solidFill>
                  <a:srgbClr val="1A1A1A"/>
                </a:solidFill>
                <a:latin typeface="Calibri"/>
              </a:rPr>
              <a:t> — H3 hex catchment density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Delivery</a:t>
            </a:r>
            <a:r>
              <a:rPr sz="1100">
                <a:solidFill>
                  <a:srgbClr val="1A1A1A"/>
                </a:solidFill>
                <a:latin typeface="Calibri"/>
              </a:rPr>
              <a:t> — listing count, rating, ETA, platforms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Competitors</a:t>
            </a:r>
            <a:r>
              <a:rPr sz="1100">
                <a:solidFill>
                  <a:srgbClr val="1A1A1A"/>
                </a:solidFill>
                <a:latin typeface="Calibri"/>
              </a:rPr>
              <a:t> — nearby chain branches, strength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113385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1133856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25112"/>
            <a:ext cx="111556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PROVENANCE  (feature_snapshot.context_sources)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548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road_source: 'expansion_road_context' or 'estimated'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parking_source: 'expansion_parking_asset' or 'estimated'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delivery_source: 'expansion_delivery_market' or 'delivery_source_record'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rent_source: 'expansion_rent_district_retail' / 'aqar_district' / city-level fallback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competitor_source: 'expansion_competitor_quality' or 'restaurant_poi'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05 ·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Pass / fail filters before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Gates are evaluated per candidate. Hard-fail gates exclude a candidate; advisory gates only annotate.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657600" cy="4114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STRUCTURAL  (always hard-fail)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zoning_fit_pass</a:t>
            </a:r>
            <a:r>
              <a:rPr sz="1100">
                <a:solidFill>
                  <a:srgbClr val="1A1A1A"/>
                </a:solidFill>
                <a:latin typeface="Calibri"/>
              </a:rPr>
              <a:t> — landuse acceptable for F&amp;B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area_fit_pass</a:t>
            </a:r>
            <a:r>
              <a:rPr sz="1100">
                <a:solidFill>
                  <a:srgbClr val="1A1A1A"/>
                </a:solidFill>
                <a:latin typeface="Calibri"/>
              </a:rPr>
              <a:t> — unit area within min/max 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4114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54203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OPERATIONAL  (configurable)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7180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frontage_access_pass</a:t>
            </a:r>
            <a:r>
              <a:rPr sz="1100">
                <a:solidFill>
                  <a:srgbClr val="1A1A1A"/>
                </a:solidFill>
                <a:latin typeface="Calibri"/>
              </a:rPr>
              <a:t> — ≥ 6m or near major road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parking_pass</a:t>
            </a:r>
            <a:r>
              <a:rPr sz="1100">
                <a:solidFill>
                  <a:srgbClr val="1A1A1A"/>
                </a:solidFill>
                <a:latin typeface="Calibri"/>
              </a:rPr>
              <a:t> — min capacity / walk score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district_pass</a:t>
            </a:r>
            <a:r>
              <a:rPr sz="1100">
                <a:solidFill>
                  <a:srgbClr val="1A1A1A"/>
                </a:solidFill>
                <a:latin typeface="Calibri"/>
              </a:rPr>
              <a:t> — matches target districts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cannibalization_pass</a:t>
            </a:r>
            <a:r>
              <a:rPr sz="1100">
                <a:solidFill>
                  <a:srgbClr val="1A1A1A"/>
                </a:solidFill>
                <a:latin typeface="Calibri"/>
              </a:rPr>
              <a:t> — &gt; tolerance from branches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delivery_market_pass</a:t>
            </a:r>
            <a:r>
              <a:rPr sz="1100">
                <a:solidFill>
                  <a:srgbClr val="1A1A1A"/>
                </a:solidFill>
                <a:latin typeface="Calibri"/>
              </a:rPr>
              <a:t> — delivery listings present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economics_pass</a:t>
            </a:r>
            <a:r>
              <a:rPr sz="1100">
                <a:solidFill>
                  <a:srgbClr val="1A1A1A"/>
                </a:solidFill>
                <a:latin typeface="Calibri"/>
              </a:rPr>
              <a:t> — rent burden ≥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68880"/>
            <a:ext cx="3657600" cy="4114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46888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54203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VIABILITY FLOORS  &amp;  ADVISORY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7180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population_floor_pass</a:t>
            </a:r>
            <a:r>
              <a:rPr sz="1100">
                <a:solidFill>
                  <a:srgbClr val="1A1A1A"/>
                </a:solidFill>
                <a:latin typeface="Calibri"/>
              </a:rPr>
              <a:t> — min residents in catchment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commercial_floor_pass</a:t>
            </a:r>
            <a:r>
              <a:rPr sz="1100">
                <a:solidFill>
                  <a:srgbClr val="1A1A1A"/>
                </a:solidFill>
                <a:latin typeface="Calibri"/>
              </a:rPr>
              <a:t> — min brand presence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construction_proximity_pass</a:t>
            </a:r>
            <a:r>
              <a:rPr sz="1100">
                <a:solidFill>
                  <a:srgbClr val="1A1A1A"/>
                </a:solidFill>
                <a:latin typeface="Calibri"/>
              </a:rPr>
              <a:t> — buffer from construction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radiance_growth_pass</a:t>
            </a:r>
            <a:r>
              <a:rPr sz="1100">
                <a:solidFill>
                  <a:srgbClr val="1A1A1A"/>
                </a:solidFill>
                <a:latin typeface="Calibri"/>
              </a:rPr>
              <a:t> — advisory only (NASA Black Marble)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06 ·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Six weighted dimensions → final score (0–100)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Demand potential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121408"/>
            <a:ext cx="502920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121408"/>
            <a:ext cx="5029200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8483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7A8C"/>
                </a:solidFill>
                <a:latin typeface="Calibr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031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6B7A"/>
                </a:solidFill>
                <a:latin typeface="Calibri"/>
              </a:rPr>
              <a:t>population, foot traffic, district momentum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Competition whitespace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61488"/>
            <a:ext cx="502920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761488"/>
            <a:ext cx="4023360" cy="29260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72491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432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6B7A"/>
                </a:solidFill>
                <a:latin typeface="Calibri"/>
              </a:rPr>
              <a:t>inverse competitor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Occupancy economics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401568"/>
            <a:ext cx="502920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3401568"/>
            <a:ext cx="4023360" cy="292608"/>
          </a:xfrm>
          <a:prstGeom prst="rect">
            <a:avLst/>
          </a:prstGeom>
          <a:solidFill>
            <a:srgbClr val="C9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36499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6F2A"/>
                </a:solidFill>
                <a:latin typeface="Calibri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832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6B7A"/>
                </a:solidFill>
                <a:latin typeface="Calibri"/>
              </a:rPr>
              <a:t>rent burden vs. estimated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Delivery demand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4041648"/>
            <a:ext cx="502920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4041648"/>
            <a:ext cx="3017520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0507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7A8C"/>
                </a:solidFill>
                <a:latin typeface="Calibri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233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6B7A"/>
                </a:solidFill>
                <a:latin typeface="Calibri"/>
              </a:rPr>
              <a:t>marketplace size, category, 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Access &amp; visibility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681728"/>
            <a:ext cx="502920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4681728"/>
            <a:ext cx="2011680" cy="29260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464515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6634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6B7A"/>
                </a:solidFill>
                <a:latin typeface="Calibri"/>
              </a:rPr>
              <a:t>frontage, road, parking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Brand fit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5321808"/>
            <a:ext cx="502920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5321808"/>
            <a:ext cx="2011680" cy="292608"/>
          </a:xfrm>
          <a:prstGeom prst="rect">
            <a:avLst/>
          </a:prstGeom>
          <a:solidFill>
            <a:srgbClr val="C9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528523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6F2A"/>
                </a:solidFill>
                <a:latin typeface="Calibri"/>
              </a:rPr>
              <a:t>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3035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6B7A"/>
                </a:solidFill>
                <a:latin typeface="Calibri"/>
              </a:rPr>
              <a:t>districts, expansion goal, cannibalization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6B7A"/>
                </a:solidFill>
                <a:latin typeface="Calibri"/>
              </a:rPr>
              <a:t>Cannibalization and value are computed alongside but not part of the weighted sum — they refine ranking and surface chips in the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06 · SCORING ·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Population score depends on the service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The catchment radius and saturation reference change by format. Score saturates at the residents listed below.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743200" cy="2377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QSR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Catchment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Saturation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79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2651760"/>
            <a:ext cx="2743200" cy="2377440"/>
          </a:xfrm>
          <a:prstGeom prst="rect">
            <a:avLst/>
          </a:prstGeom>
          <a:solidFill>
            <a:srgbClr val="C9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2834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Café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3520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Catchment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3749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1.0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4251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Saturation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4526279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2651760"/>
            <a:ext cx="2743200" cy="237744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834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Dine-in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520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Catchment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749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3.5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251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Saturation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526279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250,000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2651760"/>
            <a:ext cx="2743200" cy="2377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2834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Delivery-first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35204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Catchment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3749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3.0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6" y="4251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8DDC2"/>
                </a:solidFill>
                <a:latin typeface="Calibri"/>
              </a:rPr>
              <a:t>Saturation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416" y="4526279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180,000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Population reach pulls from H3 hex density aggregations across the catchment radius.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06 · SCORING · DERIVED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Cannibalization, economics, and the value chip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CANNIBALIZATION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Distance-based</a:t>
            </a:r>
            <a:r>
              <a:rPr sz="1100">
                <a:solidFill>
                  <a:srgbClr val="1A1A1A"/>
                </a:solidFill>
                <a:latin typeface="Calibri"/>
              </a:rPr>
              <a:t> — to nearest user-supplied branch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Tolerance</a:t>
            </a:r>
            <a:r>
              <a:rPr sz="1100">
                <a:solidFill>
                  <a:srgbClr val="1A1A1A"/>
                </a:solidFill>
                <a:latin typeface="Calibri"/>
              </a:rPr>
              <a:t> — default 1,800m (range 800–2,500m)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Feeds brand_fit</a:t>
            </a:r>
            <a:r>
              <a:rPr sz="1100">
                <a:solidFill>
                  <a:srgbClr val="1A1A1A"/>
                </a:solidFill>
                <a:latin typeface="Calibri"/>
              </a:rPr>
              <a:t> — and the cannibalization gate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Goal aware</a:t>
            </a:r>
            <a:r>
              <a:rPr sz="1100">
                <a:solidFill>
                  <a:srgbClr val="1A1A1A"/>
                </a:solidFill>
                <a:latin typeface="Calibri"/>
              </a:rPr>
              <a:t> — preferred spacing varies by expansion goal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5760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0195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rent_burden_score</a:t>
            </a:r>
            <a:r>
              <a:rPr sz="1100">
                <a:solidFill>
                  <a:srgbClr val="1A1A1A"/>
                </a:solidFill>
                <a:latin typeface="Calibri"/>
              </a:rPr>
              <a:t> — 100 × est. revenue / annual rent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Revenue model</a:t>
            </a:r>
            <a:r>
              <a:rPr sz="1100">
                <a:solidFill>
                  <a:srgbClr val="1A1A1A"/>
                </a:solidFill>
                <a:latin typeface="Calibri"/>
              </a:rPr>
              <a:t> — demand × category × location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Three modes</a:t>
            </a:r>
            <a:r>
              <a:rPr sz="1100">
                <a:solidFill>
                  <a:srgbClr val="1A1A1A"/>
                </a:solidFill>
                <a:latin typeface="Calibri"/>
              </a:rPr>
              <a:t> — peer-relative · absolute envelope · legacy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economics_pass</a:t>
            </a:r>
            <a:r>
              <a:rPr sz="1100">
                <a:solidFill>
                  <a:srgbClr val="1A1A1A"/>
                </a:solidFill>
                <a:latin typeface="Calibri"/>
              </a:rPr>
              <a:t> — fails when rent_burden &lt;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65760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65760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90195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VALUE CHIP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3172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value_score</a:t>
            </a:r>
            <a:r>
              <a:rPr sz="1100">
                <a:solidFill>
                  <a:srgbClr val="1A1A1A"/>
                </a:solidFill>
                <a:latin typeface="Calibri"/>
              </a:rPr>
              <a:t> — geometric mean of revenue &amp; rent burden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best_value</a:t>
            </a:r>
            <a:r>
              <a:rPr sz="1100">
                <a:solidFill>
                  <a:srgbClr val="1A1A1A"/>
                </a:solidFill>
                <a:latin typeface="Calibri"/>
              </a:rPr>
              <a:t> — top decile chip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neutral</a:t>
            </a:r>
            <a:r>
              <a:rPr sz="1100">
                <a:solidFill>
                  <a:srgbClr val="1A1A1A"/>
                </a:solidFill>
                <a:latin typeface="Calibri"/>
              </a:rPr>
              <a:t> — middle 80%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above_market</a:t>
            </a:r>
            <a:r>
              <a:rPr sz="1100">
                <a:solidFill>
                  <a:srgbClr val="1A1A1A"/>
                </a:solidFill>
                <a:latin typeface="Calibri"/>
              </a:rPr>
              <a:t> — bottom decile (downrank candidate)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Null</a:t>
            </a:r>
            <a:r>
              <a:rPr sz="1100">
                <a:solidFill>
                  <a:srgbClr val="1A1A1A"/>
                </a:solidFill>
                <a:latin typeface="Calibri"/>
              </a:rPr>
              <a:t> — when rent_burden ran in fallback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07 ·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How much can you trust each candidate?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Confidence grade reflects data completeness — independent of the score. Sparse signals don't lower the score, they lower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743200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74320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GRADE 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6B7A"/>
                </a:solidFill>
                <a:latin typeface="Calibri"/>
              </a:rPr>
              <a:t>Completeness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≥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all major snapshots populated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2651760"/>
            <a:ext cx="2743200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2651760"/>
            <a:ext cx="2743200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2816352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GRADE 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3611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6B7A"/>
                </a:solidFill>
                <a:latin typeface="Calibri"/>
              </a:rPr>
              <a:t>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60 –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4480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most signals present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2651760"/>
            <a:ext cx="2743200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651760"/>
            <a:ext cx="2743200" cy="777240"/>
          </a:xfrm>
          <a:prstGeom prst="rect">
            <a:avLst/>
          </a:prstGeom>
          <a:solidFill>
            <a:srgbClr val="C9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816352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GRADE 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611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6B7A"/>
                </a:solidFill>
                <a:latin typeface="Calibri"/>
              </a:rPr>
              <a:t>Completeness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40 – 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480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partial; some estimated values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2651760"/>
            <a:ext cx="2743200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2651760"/>
            <a:ext cx="2743200" cy="77724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3416" y="2816352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GRADE 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3611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6B7A"/>
                </a:solidFill>
                <a:latin typeface="Calibri"/>
              </a:rPr>
              <a:t>Completeness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6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&lt; 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4480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sparse / heavily estimated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Source: feature_snapshot.data_completeness_score across road, parking, delivery, population, competitor signals.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08 · LLM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Reranking and decision memos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5778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LLM RERANK  (Phase 2, 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Toggle</a:t>
            </a:r>
            <a:r>
              <a:rPr sz="1100">
                <a:solidFill>
                  <a:srgbClr val="1A1A1A"/>
                </a:solidFill>
                <a:latin typeface="Calibri"/>
              </a:rPr>
              <a:t> — EXPANSION_LLM_RERANK_ENABLED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Bounded shortlist</a:t>
            </a:r>
            <a:r>
              <a:rPr sz="1100">
                <a:solidFill>
                  <a:srgbClr val="1A1A1A"/>
                </a:solidFill>
                <a:latin typeface="Calibri"/>
              </a:rPr>
              <a:t> — top N candidates only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Structured output</a:t>
            </a:r>
            <a:r>
              <a:rPr sz="1100">
                <a:solidFill>
                  <a:srgbClr val="1A1A1A"/>
                </a:solidFill>
                <a:latin typeface="Calibri"/>
              </a:rPr>
              <a:t> — rerank_reason, rerank_delta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Fuzzy tiebreak</a:t>
            </a:r>
            <a:r>
              <a:rPr sz="1100">
                <a:solidFill>
                  <a:srgbClr val="1A1A1A"/>
                </a:solidFill>
                <a:latin typeface="Calibri"/>
              </a:rPr>
              <a:t> — within 1.5-pt bands prefer richer LLM signal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Value-band reorder</a:t>
            </a:r>
            <a:r>
              <a:rPr sz="1100">
                <a:solidFill>
                  <a:srgbClr val="1A1A1A"/>
                </a:solidFill>
                <a:latin typeface="Calibri"/>
              </a:rPr>
              <a:t> — uprank best_value, downrank above_market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Deterministic fallback</a:t>
            </a:r>
            <a:r>
              <a:rPr sz="1100">
                <a:solidFill>
                  <a:srgbClr val="1A1A1A"/>
                </a:solidFill>
                <a:latin typeface="Calibri"/>
              </a:rPr>
              <a:t> — always available (rerank_status='skipped')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5778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MEMO  (LLM, structured)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3172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Pre-warmed</a:t>
            </a:r>
            <a:r>
              <a:rPr sz="1100">
                <a:solidFill>
                  <a:srgbClr val="1A1A1A"/>
                </a:solidFill>
                <a:latin typeface="Calibri"/>
              </a:rPr>
              <a:t> — background task generates top-N at search time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Cached</a:t>
            </a:r>
            <a:r>
              <a:rPr sz="1100">
                <a:solidFill>
                  <a:srgbClr val="1A1A1A"/>
                </a:solidFill>
                <a:latin typeface="Calibri"/>
              </a:rPr>
              <a:t> — per search_id + parcel_id under MEMO_PROMPT_VERSION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Structured JSON</a:t>
            </a:r>
            <a:r>
              <a:rPr sz="1100">
                <a:solidFill>
                  <a:srgbClr val="1A1A1A"/>
                </a:solidFill>
                <a:latin typeface="Calibri"/>
              </a:rPr>
              <a:t> — headline · evidence · risks · property · finance · market · competitive · bottom line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Legacy fallback</a:t>
            </a:r>
            <a:r>
              <a:rPr sz="1100">
                <a:solidFill>
                  <a:srgbClr val="1A1A1A"/>
                </a:solidFill>
                <a:latin typeface="Calibri"/>
              </a:rPr>
              <a:t> — rendered text if structured path fails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Daily ceiling</a:t>
            </a:r>
            <a:r>
              <a:rPr sz="1100">
                <a:solidFill>
                  <a:srgbClr val="1A1A1A"/>
                </a:solidFill>
                <a:latin typeface="Calibri"/>
              </a:rPr>
              <a:t> — LLM budget enforced (503 on breach)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09 ·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Deduplication &amp; shortlist diversity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Aggressive dedupe risks losing real options. The Advisor uses loose spatial + attribute keys to remove clones without trimming genuine variety.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577840" cy="3931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DEDUPE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Spatial</a:t>
            </a:r>
            <a:r>
              <a:rPr sz="1100">
                <a:solidFill>
                  <a:srgbClr val="1A1A1A"/>
                </a:solidFill>
                <a:latin typeface="Calibri"/>
              </a:rPr>
              <a:t> — 55m grid snap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District</a:t>
            </a:r>
            <a:r>
              <a:rPr sz="1100">
                <a:solidFill>
                  <a:srgbClr val="1A1A1A"/>
                </a:solidFill>
                <a:latin typeface="Calibri"/>
              </a:rPr>
              <a:t> — normalized district key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Area bucket</a:t>
            </a:r>
            <a:r>
              <a:rPr sz="1100">
                <a:solidFill>
                  <a:srgbClr val="1A1A1A"/>
                </a:solidFill>
                <a:latin typeface="Calibri"/>
              </a:rPr>
              <a:t> — size class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Rent bucket</a:t>
            </a:r>
            <a:r>
              <a:rPr sz="1100">
                <a:solidFill>
                  <a:srgbClr val="1A1A1A"/>
                </a:solidFill>
                <a:latin typeface="Calibri"/>
              </a:rPr>
              <a:t> — price band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Aggressive mode</a:t>
            </a:r>
            <a:r>
              <a:rPr sz="1100">
                <a:solidFill>
                  <a:srgbClr val="1A1A1A"/>
                </a:solidFill>
                <a:latin typeface="Calibri"/>
              </a:rPr>
              <a:t> — report view adds economics-similarity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5577840" cy="3931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4203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POOL HEADROOM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Max from SQL</a:t>
            </a:r>
            <a:r>
              <a:rPr sz="1100">
                <a:solidFill>
                  <a:srgbClr val="1A1A1A"/>
                </a:solidFill>
                <a:latin typeface="Calibri"/>
              </a:rPr>
              <a:t> — 2,000 candidates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Stratification</a:t>
            </a:r>
            <a:r>
              <a:rPr sz="1100">
                <a:solidFill>
                  <a:srgbClr val="1A1A1A"/>
                </a:solidFill>
                <a:latin typeface="Calibri"/>
              </a:rPr>
              <a:t> — ≤ 200 per district (geographic spread)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3× headroom</a:t>
            </a:r>
            <a:r>
              <a:rPr sz="1100">
                <a:solidFill>
                  <a:srgbClr val="1A1A1A"/>
                </a:solidFill>
                <a:latin typeface="Calibri"/>
              </a:rPr>
              <a:t> — kept beyond final list for safe rerank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Soft demote</a:t>
            </a:r>
            <a:r>
              <a:rPr sz="1100">
                <a:solidFill>
                  <a:srgbClr val="1A1A1A"/>
                </a:solidFill>
                <a:latin typeface="Calibri"/>
              </a:rPr>
              <a:t> — pillar legs reduce weak cohorts gracefully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10 ·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Results panel — what the user sees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94360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943600" cy="45720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5669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Expansion results · 8 pass · 12 candidates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56692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1460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Candidate 1  ·  Al Olaya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889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320 m²  ·  430k SAR/yr  ·  confidence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606040"/>
            <a:ext cx="7772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670048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8DDC2"/>
                </a:solidFill>
                <a:latin typeface="Calibri"/>
              </a:rPr>
              <a:t>82.0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3017520"/>
            <a:ext cx="640080" cy="2011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026664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3017520"/>
            <a:ext cx="1188720" cy="201168"/>
          </a:xfrm>
          <a:prstGeom prst="rect">
            <a:avLst/>
          </a:prstGeom>
          <a:solidFill>
            <a:srgbClr val="C9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3026664"/>
            <a:ext cx="11887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best_value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383280"/>
            <a:ext cx="56692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1188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474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Candidate 2  ·  Al Olaya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490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320 m²  ·  430k SAR/yr  ·  confidence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566160"/>
            <a:ext cx="7772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3630168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8DDC2"/>
                </a:solidFill>
                <a:latin typeface="Calibri"/>
              </a:rPr>
              <a:t>78.1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3977640"/>
            <a:ext cx="640080" cy="2011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3986784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3977640"/>
            <a:ext cx="1188720" cy="20116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3986784"/>
            <a:ext cx="11887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343400"/>
            <a:ext cx="56692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4348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Candidate 3  ·  Al Olaya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70916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320 m²  ·  430k SAR/yr  ·  confidence 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4526280"/>
            <a:ext cx="7772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4590288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8DDC2"/>
                </a:solidFill>
                <a:latin typeface="Calibri"/>
              </a:rPr>
              <a:t>74.2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5880" y="4937760"/>
            <a:ext cx="640080" cy="2011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4946904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4937760"/>
            <a:ext cx="1188720" cy="20116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11680" y="4946904"/>
            <a:ext cx="11887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303520"/>
            <a:ext cx="56692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5321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53949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Candidate 4  ·  Al Olaya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56692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320 m²  ·  430k SAR/yr  ·  confidence 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5486400"/>
            <a:ext cx="7772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5550408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8DDC2"/>
                </a:solidFill>
                <a:latin typeface="Calibri"/>
              </a:rPr>
              <a:t>70.3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25880" y="5897880"/>
            <a:ext cx="640080" cy="201168"/>
          </a:xfrm>
          <a:prstGeom prst="rect">
            <a:avLst/>
          </a:prstGeom>
          <a:solidFill>
            <a:srgbClr val="9AA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5880" y="5907024"/>
            <a:ext cx="6400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0" y="5897880"/>
            <a:ext cx="1188720" cy="201168"/>
          </a:xfrm>
          <a:prstGeom prst="rect">
            <a:avLst/>
          </a:prstGeom>
          <a:solidFill>
            <a:srgbClr val="9AA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0" y="5907024"/>
            <a:ext cx="11887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above_market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1828800"/>
            <a:ext cx="51206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75120" y="1828800"/>
            <a:ext cx="51206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1901952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EACH ROW TELLS YOU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23317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Rank badge</a:t>
            </a:r>
            <a:r>
              <a:rPr sz="1100">
                <a:solidFill>
                  <a:srgbClr val="1A1A1A"/>
                </a:solidFill>
                <a:latin typeface="Calibri"/>
              </a:rPr>
              <a:t> — 1-based final rank (post-rerank)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Score pill</a:t>
            </a:r>
            <a:r>
              <a:rPr sz="1100">
                <a:solidFill>
                  <a:srgbClr val="1A1A1A"/>
                </a:solidFill>
                <a:latin typeface="Calibri"/>
              </a:rPr>
              <a:t> — weighted composite (0–100)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Gate badge</a:t>
            </a:r>
            <a:r>
              <a:rPr sz="1100">
                <a:solidFill>
                  <a:srgbClr val="1A1A1A"/>
                </a:solidFill>
                <a:latin typeface="Calibri"/>
              </a:rPr>
              <a:t> — PASS / FAIL / PARTIAL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Value chip</a:t>
            </a:r>
            <a:r>
              <a:rPr sz="1100">
                <a:solidFill>
                  <a:srgbClr val="1A1A1A"/>
                </a:solidFill>
                <a:latin typeface="Calibri"/>
              </a:rPr>
              <a:t> — best_value · neutral · above_market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Confidence</a:t>
            </a:r>
            <a:r>
              <a:rPr sz="1100">
                <a:solidFill>
                  <a:srgbClr val="1A1A1A"/>
                </a:solidFill>
                <a:latin typeface="Calibri"/>
              </a:rPr>
              <a:t> — A–D letter grade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Quick facts</a:t>
            </a:r>
            <a:r>
              <a:rPr sz="1100">
                <a:solidFill>
                  <a:srgbClr val="1A1A1A"/>
                </a:solidFill>
                <a:latin typeface="Calibri"/>
              </a:rPr>
              <a:t> — area · annual rent · district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Click</a:t>
            </a:r>
            <a:r>
              <a:rPr sz="1100">
                <a:solidFill>
                  <a:srgbClr val="1A1A1A"/>
                </a:solidFill>
                <a:latin typeface="Calibri"/>
              </a:rPr>
              <a:t> — opens the Decision Memory drawer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Summary strip on top: pass count · best overall · best value highlight  ·  filters: score/gate/district/area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11 ·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Decision Memory drawer — Memo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Default tab. Narrative for stakeholders — readable end-to-end without diving into raw numbers.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338560" cy="64008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8DDC2"/>
                </a:solidFill>
                <a:latin typeface="Calibri"/>
              </a:rPr>
              <a:t>VERDICT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1097280" cy="274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6888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CONFIDENCE 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688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SCORE  82.4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6888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E8DDC2"/>
                </a:solidFill>
                <a:latin typeface="Calibri"/>
              </a:rPr>
              <a:t>AL OLAYA  ·  320 m²  ·  430k SAR/yr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Headline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Strong demand at fair price.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Key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polarity-tagged positives / neutrals / negatives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Property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area · frontage · street type · parking · listing 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Financial framing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annual rent · comp median · percentile · spread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29184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29184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33756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Market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56616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population reach · district momentum · realized 30d demand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93192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93192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7764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Competitive landscape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20624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top chains · distances · saturation thesis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57200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57200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61772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Risks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84632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structured list with mitigations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212080"/>
            <a:ext cx="553212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5212080"/>
            <a:ext cx="73152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25780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2C3F"/>
                </a:solidFill>
                <a:latin typeface="Calibri"/>
              </a:rPr>
              <a:t>Bottom 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48640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recommended next 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Lead candidates also expose a Copy-Ready Summary block for stakeholder sharing.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11 ·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Decision Memory drawer — Diagnostics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Five inner sub-tabs and a full Decision Logic card. This is where an analyst checks why a candidate scored what it did.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212848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2128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2212848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6B7A"/>
                </a:solidFill>
                <a:latin typeface="Calibri"/>
              </a:rPr>
              <a:t>stacked weighted components + raw 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2468880"/>
            <a:ext cx="2212848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2560320"/>
            <a:ext cx="22128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Site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3063240"/>
            <a:ext cx="2212848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6B7A"/>
                </a:solidFill>
                <a:latin typeface="Calibri"/>
              </a:rPr>
              <a:t>road, parking, visibility, observed vs. estimated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2468880"/>
            <a:ext cx="2212848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2560320"/>
            <a:ext cx="22128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3063240"/>
            <a:ext cx="2212848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6B7A"/>
                </a:solidFill>
                <a:latin typeface="Calibri"/>
              </a:rPr>
              <a:t>platform mix, category penetration, rating, 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468880"/>
            <a:ext cx="2212848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2560320"/>
            <a:ext cx="22128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3063240"/>
            <a:ext cx="2212848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6B7A"/>
                </a:solidFill>
                <a:latin typeface="Calibri"/>
              </a:rPr>
              <a:t>nearby chains, distances, saturation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74352" y="2468880"/>
            <a:ext cx="2212848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2560320"/>
            <a:ext cx="22128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3063240"/>
            <a:ext cx="2212848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6B7A"/>
                </a:solidFill>
                <a:latin typeface="Calibri"/>
              </a:rPr>
              <a:t>rent comps, percentile, peer range, revenue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7939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FULL SCORE BREAKDOWN  (collapsible)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weights</a:t>
            </a:r>
            <a:r>
              <a:rPr sz="1100">
                <a:solidFill>
                  <a:srgbClr val="1A1A1A"/>
                </a:solidFill>
                <a:latin typeface="Calibri"/>
              </a:rPr>
              <a:t> — component weights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inputs</a:t>
            </a:r>
            <a:r>
              <a:rPr sz="1100">
                <a:solidFill>
                  <a:srgbClr val="1A1A1A"/>
                </a:solidFill>
                <a:latin typeface="Calibri"/>
              </a:rPr>
              <a:t> — raw feature values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weighted_components</a:t>
            </a:r>
            <a:r>
              <a:rPr sz="1100">
                <a:solidFill>
                  <a:srgbClr val="1A1A1A"/>
                </a:solidFill>
                <a:latin typeface="Calibri"/>
              </a:rPr>
              <a:t> — computed scores per dimension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display</a:t>
            </a:r>
            <a:r>
              <a:rPr sz="1100">
                <a:solidFill>
                  <a:srgbClr val="1A1A1A"/>
                </a:solidFill>
                <a:latin typeface="Calibri"/>
              </a:rPr>
              <a:t> — human-friendly labels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economics_detail</a:t>
            </a:r>
            <a:r>
              <a:rPr sz="1100">
                <a:solidFill>
                  <a:srgbClr val="1A1A1A"/>
                </a:solidFill>
                <a:latin typeface="Calibri"/>
              </a:rPr>
              <a:t> — rent burden, value_score, value_band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20624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20624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27939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LOGIC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Gate status</a:t>
            </a:r>
            <a:r>
              <a:rPr sz="1100">
                <a:solidFill>
                  <a:srgbClr val="1A1A1A"/>
                </a:solidFill>
                <a:latin typeface="Calibri"/>
              </a:rPr>
              <a:t> — color-coded pass / fail / unknown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Per gate</a:t>
            </a:r>
            <a:r>
              <a:rPr sz="1100">
                <a:solidFill>
                  <a:srgbClr val="1A1A1A"/>
                </a:solidFill>
                <a:latin typeface="Calibri"/>
              </a:rPr>
              <a:t> — name, threshold, actual, explanation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Pool diagnostics</a:t>
            </a:r>
            <a:r>
              <a:rPr sz="1100">
                <a:solidFill>
                  <a:srgbClr val="1A1A1A"/>
                </a:solidFill>
                <a:latin typeface="Calibri"/>
              </a:rPr>
              <a:t> — hard-floor drops, demote-leg triggers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Hard vs. advisory</a:t>
            </a:r>
            <a:r>
              <a:rPr sz="1100">
                <a:solidFill>
                  <a:srgbClr val="1A1A1A"/>
                </a:solidFill>
                <a:latin typeface="Calibri"/>
              </a:rPr>
              <a:t> — advisory gates never block overall_pass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11 ·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Compare and Report 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5778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COMPARE PANEL  (2–6 candidates)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Side-by-side</a:t>
            </a:r>
            <a:r>
              <a:rPr sz="1100">
                <a:solidFill>
                  <a:srgbClr val="1A1A1A"/>
                </a:solidFill>
                <a:latin typeface="Calibri"/>
              </a:rPr>
              <a:t> — score, gates, economics, demand, delivery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best_overall</a:t>
            </a:r>
            <a:r>
              <a:rPr sz="1100">
                <a:solidFill>
                  <a:srgbClr val="1A1A1A"/>
                </a:solidFill>
                <a:latin typeface="Calibri"/>
              </a:rPr>
              <a:t> — highest final_score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lowest_cannibalization</a:t>
            </a:r>
            <a:r>
              <a:rPr sz="1100">
                <a:solidFill>
                  <a:srgbClr val="1A1A1A"/>
                </a:solidFill>
                <a:latin typeface="Calibri"/>
              </a:rPr>
              <a:t> — furthest from existing branches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highest_demand</a:t>
            </a:r>
            <a:r>
              <a:rPr sz="1100">
                <a:solidFill>
                  <a:srgbClr val="1A1A1A"/>
                </a:solidFill>
                <a:latin typeface="Calibri"/>
              </a:rPr>
              <a:t> — best demand_potential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best_economics</a:t>
            </a:r>
            <a:r>
              <a:rPr sz="1100">
                <a:solidFill>
                  <a:srgbClr val="1A1A1A"/>
                </a:solidFill>
                <a:latin typeface="Calibri"/>
              </a:rPr>
              <a:t> — lowest rent_burden / best peer percentile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strongest_whitespace</a:t>
            </a:r>
            <a:r>
              <a:rPr sz="1100">
                <a:solidFill>
                  <a:srgbClr val="1A1A1A"/>
                </a:solidFill>
                <a:latin typeface="Calibri"/>
              </a:rPr>
              <a:t> — least competitive saturation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best_value</a:t>
            </a:r>
            <a:r>
              <a:rPr sz="1100">
                <a:solidFill>
                  <a:srgbClr val="1A1A1A"/>
                </a:solidFill>
                <a:latin typeface="Calibri"/>
              </a:rPr>
              <a:t> — best revenue-to-rent geometric mean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most_confident</a:t>
            </a:r>
            <a:r>
              <a:rPr sz="1100">
                <a:solidFill>
                  <a:srgbClr val="1A1A1A"/>
                </a:solidFill>
                <a:latin typeface="Calibri"/>
              </a:rPr>
              <a:t> — highest data completeness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57784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577840" cy="4114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RECOMMENDATION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3172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Top 3</a:t>
            </a:r>
            <a:r>
              <a:rPr sz="1100">
                <a:solidFill>
                  <a:srgbClr val="1A1A1A"/>
                </a:solidFill>
                <a:latin typeface="Calibri"/>
              </a:rPr>
              <a:t> — featured with quick facts and breakdowns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Recommendation summary</a:t>
            </a:r>
            <a:r>
              <a:rPr sz="1100">
                <a:solidFill>
                  <a:srgbClr val="1A1A1A"/>
                </a:solidFill>
                <a:latin typeface="Calibri"/>
              </a:rPr>
              <a:t> — best_candidate_id, runner_up, why_best, main_risk, best_format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pass_count</a:t>
            </a:r>
            <a:r>
              <a:rPr sz="1100">
                <a:solidFill>
                  <a:srgbClr val="1A1A1A"/>
                </a:solidFill>
                <a:latin typeface="Calibri"/>
              </a:rPr>
              <a:t> — candidates clearing all hard-fail gates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Dimension winners</a:t>
            </a:r>
            <a:r>
              <a:rPr sz="1100">
                <a:solidFill>
                  <a:srgbClr val="1A1A1A"/>
                </a:solidFill>
                <a:latin typeface="Calibri"/>
              </a:rPr>
              <a:t> — for each scored dimension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7A8C"/>
                </a:solidFill>
                <a:latin typeface="Calibri"/>
              </a:rPr>
              <a:t>▸  </a:t>
            </a:r>
            <a:r>
              <a:rPr sz="1100" b="1">
                <a:solidFill>
                  <a:srgbClr val="1A1A1A"/>
                </a:solidFill>
                <a:latin typeface="Calibri"/>
              </a:rPr>
              <a:t>Assumptions</a:t>
            </a:r>
            <a:r>
              <a:rPr sz="1100">
                <a:solidFill>
                  <a:srgbClr val="1A1A1A"/>
                </a:solidFill>
                <a:latin typeface="Calibri"/>
              </a:rPr>
              <a:t> — city: Riyadh · parcel_source: listings_only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12 ·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Plain-English definitions (1 of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Cannibalization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56232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Market overlap between a new location and your existing branches; controlled by tolerance distance and the cannibalization gate.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Confidence 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23160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A–D rating of data quality. A = rich signals, D = sparse / estimated. Independent of the 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62656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Data completeness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90088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Integer 0–100 measuring availability of road, parking, delivery, and population signals. Drives the confidence grade.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9584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02736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Decision memo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57016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Structured LLM narrative explaining a candidate. Cached per search and parcel.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96512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69664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Delivery 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123944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Aggregated presence on Hungerstation, Jahez, Mrsool — multi-platform saturation and category penetration.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Economics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690872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Rental viability metric: estimated annual revenue vs. annual rent. Drives economics_pass and the value chip.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30368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Feature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257800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Lightweight cache of road, parking, population, delivery, and competitor signals; tracks observed vs. estimated.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97296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70448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824728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Pass/fail filter applied before scoring. Structural gates are always hard-fail; operational gates can be advisory.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12 ·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Plain-English definitions (2 of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Rank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56232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1-based position in the final list. deterministic_rank is pre-LLM, final_rank is post-LLM.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Score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23160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Per-component decomposition (weights, inputs, weighted_components, labels, final_score). Surfaced in Diagnostics.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62656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Service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90088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Operating format: QSR, dine-in, delivery-first, café. Drives catchment radius and saturation thresholds.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9584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02736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Shortlist diversity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57016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Dedupe logic that removes spatial/attribute clones without trimming genuine variety.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96512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69664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Value 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123944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best_value · neutral · above_market chip from the geometric mean of revenue index and rent burden.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690872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GO / CAUTION / RECONSIDER summary written into the memo.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30368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Whitespace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257800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Inverse competitor density. competition_whitespace = 100 means no competitors; 0 means saturated.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97296"/>
            <a:ext cx="2468880" cy="475488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70448"/>
            <a:ext cx="23774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LLM rerank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824728"/>
            <a:ext cx="86868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Optional structured reranking of the top shortlist by Claude, with rerank_reason and rerank_delta.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13 ·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Backend endpoints under /v1/expansion-advisor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57784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5778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7510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Search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POST   /searches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/searches/{id}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62656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/searches/{id}/candidates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5526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/searches/{id}/report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557784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55778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7510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Candidate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/candidates/{id}/memo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POST   /candidates/compare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62656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POST   /decision-memo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557784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55778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5254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Saved searches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POST   /saved-searches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47488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/saved-searches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0096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/saved-searches/{id}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3270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PATCH  /saved-searches/{id}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2531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DELETE /saved-searches/{id}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97680"/>
            <a:ext cx="557784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297680"/>
            <a:ext cx="5577840" cy="36576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35254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DDC2"/>
                </a:solidFill>
                <a:latin typeface="Calibri"/>
              </a:rPr>
              <a:t>Supporting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/districts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47488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GET    /branch-suggestions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All list responses use { items: [...] }  ·  Memo response includes structured + legacy fields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14 ·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Putting it all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If you remember five things…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5059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Riyadh-only, listings-first.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Pool comes from Aqar / Wasalt / Bayut listings, with parcel + delivery POI fallbacks; everything is stratified by district.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2783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Gates first, scoring second.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20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Hard-fail gates prune the pool. Six weighted dimensions then produce a 0–100 score. Cannibalization, economics, and value refine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9651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00507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Two layers in the drawer.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976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Memo for stakeholders (verdict + narrative). Diagnostics for analysts (weights, inputs, gates, comps).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7375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8231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Trust ≠ score.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0749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Confidence grade A–D tells you how complete the data is, separately from the score itself.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457200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5955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2C3F"/>
                </a:solidFill>
                <a:latin typeface="Calibri"/>
              </a:rPr>
              <a:t>LLM is bounded.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Reranking and memos are structured, cached, and budget-capped. Deterministic results are always available as a fallback.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DDC2"/>
                </a:solidFill>
                <a:latin typeface="Calibri"/>
              </a:rPr>
              <a:t>OAKTREE ATLAS  ·  EXPANSION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095" y="1097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8DDC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15 · CODE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2C3F"/>
                </a:solidFill>
                <a:latin typeface="Calibri"/>
              </a:rPr>
              <a:t>Where to look in the 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33856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Backend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116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app/services/expansion_advisor.py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4688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app/api/expansion_advisor.py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33856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Ingestion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9260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app/ingest/expansion_advisor_*.py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3832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alembic/versions/20260310_*  →  20260314_*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1133856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Frontend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8404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frontend/src/features/expansion-advisor/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Memo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2976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frontend/src/features/.../ExpansionMemoPanel.tsx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1133856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Results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7548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frontend/src/features/.../ExpansionResultsPanel.tsx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2064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120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2120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.github/workflows/expansion-advisor-data-*.yml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33856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692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C3F"/>
                </a:solidFill>
                <a:latin typeface="Calibri"/>
              </a:rPr>
              <a:t>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6692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docs/expansion_advisor_data_ingest.md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6B7A"/>
                </a:solidFill>
                <a:latin typeface="Calibri"/>
              </a:rPr>
              <a:t>Service version: expansion_advisor_v7  ·  Riyadh only  ·  EPSG:4326 (metric via EPSG:32638)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E8DDC2"/>
                </a:solidFill>
                <a:latin typeface="Calibri"/>
              </a:rPr>
              <a:t>The Expansion Advisor — data, gates, scoring, memo, and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E8DDC2"/>
                </a:solidFill>
                <a:latin typeface="Calibri"/>
              </a:rPr>
              <a:t>For deeper drills:  /docs/expansion_advisor_data_ingest.md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E8DDC2"/>
                </a:solidFill>
                <a:latin typeface="Calibri"/>
              </a:rPr>
              <a:t>Service:  app/services/expansion_advisor.py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E8DDC2"/>
                </a:solidFill>
                <a:latin typeface="Calibri"/>
              </a:rPr>
              <a:t>Frontend:  frontend/src/features/expansion-advisor/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96F2A"/>
                </a:solidFill>
                <a:latin typeface="Calibri"/>
              </a:rPr>
              <a:t>OAKTREE ATLAS  ·  RIYADH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