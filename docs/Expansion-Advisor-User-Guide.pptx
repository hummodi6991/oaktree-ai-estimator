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F4D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858000"/>
          </a:xfrm>
          <a:prstGeom prst="rect">
            <a:avLst/>
          </a:prstGeom>
          <a:solidFill>
            <a:srgbClr val="1F4D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320040" cy="6858000"/>
          </a:xfrm>
          <a:prstGeom prst="rect">
            <a:avLst/>
          </a:prstGeom>
          <a:solidFill>
            <a:srgbClr val="3C8C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595360" y="0"/>
            <a:ext cx="3593592" cy="6858000"/>
          </a:xfrm>
          <a:prstGeom prst="rect">
            <a:avLst/>
          </a:prstGeom>
          <a:solidFill>
            <a:srgbClr val="1A42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1554480"/>
            <a:ext cx="7498079" cy="457200"/>
          </a:xfrm>
          <a:prstGeom prst="rect">
            <a:avLst/>
          </a:prstGeom>
          <a:noFill/>
        </p:spPr>
        <p:txBody>
          <a:bodyPr wrap="square" anchor="t" lIns="25400" rIns="25400" tIns="25400" bIns="25400">
            <a:spAutoFit/>
          </a:bodyPr>
          <a:lstStyle/>
          <a:p>
            <a:pPr algn="l">
              <a:lnSpc>
                <a:spcPct val="105000"/>
              </a:lnSpc>
              <a:spcBef>
                <a:spcPts val="0"/>
              </a:spcBef>
              <a:spcAft>
                <a:spcPts val="600"/>
              </a:spcAft>
            </a:pPr>
            <a:r>
              <a:rPr sz="1800" b="1" i="0">
                <a:solidFill>
                  <a:srgbClr val="9CC4AD"/>
                </a:solidFill>
                <a:latin typeface="Calibri"/>
              </a:rPr>
              <a:t>OAKTREE ATLAS</a:t>
            </a:r>
          </a:p>
        </p:txBody>
      </p:sp>
      <p:sp>
        <p:nvSpPr>
          <p:cNvPr id="7" name="TextBox 6"/>
          <p:cNvSpPr txBox="1"/>
          <p:nvPr/>
        </p:nvSpPr>
        <p:spPr>
          <a:xfrm>
            <a:off x="822960" y="2057400"/>
            <a:ext cx="7680960" cy="2011680"/>
          </a:xfrm>
          <a:prstGeom prst="rect">
            <a:avLst/>
          </a:prstGeom>
          <a:noFill/>
        </p:spPr>
        <p:txBody>
          <a:bodyPr wrap="square" anchor="t" lIns="25400" rIns="25400" tIns="25400" bIns="25400">
            <a:spAutoFit/>
          </a:bodyPr>
          <a:lstStyle/>
          <a:p>
            <a:pPr algn="l">
              <a:lnSpc>
                <a:spcPct val="105000"/>
              </a:lnSpc>
              <a:spcBef>
                <a:spcPts val="0"/>
              </a:spcBef>
              <a:spcAft>
                <a:spcPts val="1000"/>
              </a:spcAft>
            </a:pPr>
            <a:r>
              <a:rPr sz="5400" b="1" i="0">
                <a:solidFill>
                  <a:srgbClr val="FFFFFF"/>
                </a:solidFill>
                <a:latin typeface="Calibri"/>
              </a:rPr>
              <a:t>Expansion Advisor</a:t>
            </a:r>
          </a:p>
          <a:p>
            <a:pPr algn="l">
              <a:lnSpc>
                <a:spcPct val="105000"/>
              </a:lnSpc>
              <a:spcBef>
                <a:spcPts val="0"/>
              </a:spcBef>
              <a:spcAft>
                <a:spcPts val="1000"/>
              </a:spcAft>
            </a:pPr>
            <a:r>
              <a:rPr sz="2600" b="0" i="0">
                <a:solidFill>
                  <a:srgbClr val="CFE3D7"/>
                </a:solidFill>
                <a:latin typeface="Calibri"/>
              </a:rPr>
              <a:t>A simple guide to finding your next branch</a:t>
            </a:r>
          </a:p>
        </p:txBody>
      </p:sp>
      <p:sp>
        <p:nvSpPr>
          <p:cNvPr id="8" name="TextBox 7"/>
          <p:cNvSpPr txBox="1"/>
          <p:nvPr/>
        </p:nvSpPr>
        <p:spPr>
          <a:xfrm>
            <a:off x="822960" y="4297680"/>
            <a:ext cx="7315200" cy="914400"/>
          </a:xfrm>
          <a:prstGeom prst="rect">
            <a:avLst/>
          </a:prstGeom>
          <a:noFill/>
        </p:spPr>
        <p:txBody>
          <a:bodyPr wrap="square" anchor="t" lIns="25400" rIns="25400" tIns="25400" bIns="25400">
            <a:spAutoFit/>
          </a:bodyPr>
          <a:lstStyle/>
          <a:p>
            <a:pPr algn="l">
              <a:lnSpc>
                <a:spcPct val="105000"/>
              </a:lnSpc>
              <a:spcBef>
                <a:spcPts val="0"/>
              </a:spcBef>
              <a:spcAft>
                <a:spcPts val="600"/>
              </a:spcAft>
            </a:pPr>
            <a:r>
              <a:rPr sz="1800" b="0" i="0">
                <a:solidFill>
                  <a:srgbClr val="BFD9C8"/>
                </a:solidFill>
                <a:latin typeface="Calibri"/>
              </a:rPr>
              <a:t>For restaurant &amp; café operators in Riyadh</a:t>
            </a:r>
          </a:p>
        </p:txBody>
      </p:sp>
      <p:sp>
        <p:nvSpPr>
          <p:cNvPr id="9" name="TextBox 8"/>
          <p:cNvSpPr txBox="1"/>
          <p:nvPr/>
        </p:nvSpPr>
        <p:spPr>
          <a:xfrm>
            <a:off x="8915400" y="1828800"/>
            <a:ext cx="3017520" cy="3657600"/>
          </a:xfrm>
          <a:prstGeom prst="rect">
            <a:avLst/>
          </a:prstGeom>
          <a:noFill/>
        </p:spPr>
        <p:txBody>
          <a:bodyPr wrap="square" anchor="t" lIns="25400" rIns="25400" tIns="25400" bIns="25400">
            <a:spAutoFit/>
          </a:bodyPr>
          <a:lstStyle/>
          <a:p>
            <a:pPr algn="l">
              <a:lnSpc>
                <a:spcPct val="105000"/>
              </a:lnSpc>
              <a:spcBef>
                <a:spcPts val="0"/>
              </a:spcBef>
              <a:spcAft>
                <a:spcPts val="1000"/>
              </a:spcAft>
            </a:pPr>
            <a:r>
              <a:rPr sz="1500" b="1" i="0">
                <a:solidFill>
                  <a:srgbClr val="FFFFFF"/>
                </a:solidFill>
                <a:latin typeface="Calibri"/>
              </a:rPr>
              <a:t>Inside this guide</a:t>
            </a:r>
          </a:p>
          <a:p>
            <a:pPr algn="l">
              <a:lnSpc>
                <a:spcPct val="105000"/>
              </a:lnSpc>
              <a:spcBef>
                <a:spcPts val="0"/>
              </a:spcBef>
              <a:spcAft>
                <a:spcPts val="1000"/>
              </a:spcAft>
            </a:pPr>
            <a:r>
              <a:rPr sz="1400" b="0" i="0">
                <a:solidFill>
                  <a:srgbClr val="CFE3D7"/>
                </a:solidFill>
                <a:latin typeface="Calibri"/>
              </a:rPr>
              <a:t>• What it does</a:t>
            </a:r>
          </a:p>
          <a:p>
            <a:pPr algn="l">
              <a:lnSpc>
                <a:spcPct val="105000"/>
              </a:lnSpc>
              <a:spcBef>
                <a:spcPts val="0"/>
              </a:spcBef>
              <a:spcAft>
                <a:spcPts val="1000"/>
              </a:spcAft>
            </a:pPr>
            <a:r>
              <a:rPr sz="1400" b="0" i="0">
                <a:solidFill>
                  <a:srgbClr val="CFE3D7"/>
                </a:solidFill>
                <a:latin typeface="Calibri"/>
              </a:rPr>
              <a:t>• How to run a search</a:t>
            </a:r>
          </a:p>
          <a:p>
            <a:pPr algn="l">
              <a:lnSpc>
                <a:spcPct val="105000"/>
              </a:lnSpc>
              <a:spcBef>
                <a:spcPts val="0"/>
              </a:spcBef>
              <a:spcAft>
                <a:spcPts val="1000"/>
              </a:spcAft>
            </a:pPr>
            <a:r>
              <a:rPr sz="1400" b="0" i="0">
                <a:solidFill>
                  <a:srgbClr val="CFE3D7"/>
                </a:solidFill>
                <a:latin typeface="Calibri"/>
              </a:rPr>
              <a:t>• Reading your results</a:t>
            </a:r>
          </a:p>
          <a:p>
            <a:pPr algn="l">
              <a:lnSpc>
                <a:spcPct val="105000"/>
              </a:lnSpc>
              <a:spcBef>
                <a:spcPts val="0"/>
              </a:spcBef>
              <a:spcAft>
                <a:spcPts val="1000"/>
              </a:spcAft>
            </a:pPr>
            <a:r>
              <a:rPr sz="1400" b="0" i="0">
                <a:solidFill>
                  <a:srgbClr val="CFE3D7"/>
                </a:solidFill>
                <a:latin typeface="Calibri"/>
              </a:rPr>
              <a:t>• Comparing sites</a:t>
            </a:r>
          </a:p>
          <a:p>
            <a:pPr algn="l">
              <a:lnSpc>
                <a:spcPct val="105000"/>
              </a:lnSpc>
              <a:spcBef>
                <a:spcPts val="0"/>
              </a:spcBef>
              <a:spcAft>
                <a:spcPts val="1000"/>
              </a:spcAft>
            </a:pPr>
            <a:r>
              <a:rPr sz="1400" b="0" i="0">
                <a:solidFill>
                  <a:srgbClr val="CFE3D7"/>
                </a:solidFill>
                <a:latin typeface="Calibri"/>
              </a:rPr>
              <a:t>• Plain-English glossary</a:t>
            </a:r>
          </a:p>
        </p:txBody>
      </p:sp>
      <p:sp>
        <p:nvSpPr>
          <p:cNvPr id="10" name="TextBox 9"/>
          <p:cNvSpPr txBox="1"/>
          <p:nvPr/>
        </p:nvSpPr>
        <p:spPr>
          <a:xfrm>
            <a:off x="822960" y="6126480"/>
            <a:ext cx="7315200" cy="365760"/>
          </a:xfrm>
          <a:prstGeom prst="rect">
            <a:avLst/>
          </a:prstGeom>
          <a:noFill/>
        </p:spPr>
        <p:txBody>
          <a:bodyPr wrap="square" anchor="t" lIns="25400" rIns="25400" tIns="25400" bIns="25400">
            <a:spAutoFit/>
          </a:bodyPr>
          <a:lstStyle/>
          <a:p>
            <a:pPr algn="l">
              <a:lnSpc>
                <a:spcPct val="105000"/>
              </a:lnSpc>
              <a:spcBef>
                <a:spcPts val="0"/>
              </a:spcBef>
              <a:spcAft>
                <a:spcPts val="600"/>
              </a:spcAft>
            </a:pPr>
            <a:r>
              <a:rPr sz="1400" b="0" i="1">
                <a:solidFill>
                  <a:srgbClr val="9CC4AD"/>
                </a:solidFill>
                <a:latin typeface="Calibri"/>
              </a:rPr>
              <a:t>No technical knowledge required.</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EF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1F4D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02920" y="292608"/>
            <a:ext cx="109728" cy="566928"/>
          </a:xfrm>
          <a:prstGeom prst="rect">
            <a:avLst/>
          </a:prstGeom>
          <a:solidFill>
            <a:srgbClr val="3C8C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164592"/>
            <a:ext cx="10789920" cy="365760"/>
          </a:xfrm>
          <a:prstGeom prst="rect">
            <a:avLst/>
          </a:prstGeom>
          <a:noFill/>
        </p:spPr>
        <p:txBody>
          <a:bodyPr wrap="square" anchor="ctr" lIns="25400" rIns="25400" tIns="25400" bIns="25400">
            <a:spAutoFit/>
          </a:bodyPr>
          <a:lstStyle/>
          <a:p>
            <a:pPr algn="l">
              <a:lnSpc>
                <a:spcPct val="105000"/>
              </a:lnSpc>
              <a:spcBef>
                <a:spcPts val="0"/>
              </a:spcBef>
              <a:spcAft>
                <a:spcPts val="600"/>
              </a:spcAft>
            </a:pPr>
            <a:r>
              <a:rPr sz="1300" b="1" i="0">
                <a:solidFill>
                  <a:srgbClr val="BFD9C8"/>
                </a:solidFill>
                <a:latin typeface="Calibri"/>
              </a:rPr>
              <a:t>GETTING STARTED</a:t>
            </a:r>
          </a:p>
        </p:txBody>
      </p:sp>
      <p:sp>
        <p:nvSpPr>
          <p:cNvPr id="6" name="TextBox 5"/>
          <p:cNvSpPr txBox="1"/>
          <p:nvPr/>
        </p:nvSpPr>
        <p:spPr>
          <a:xfrm>
            <a:off x="777240" y="457200"/>
            <a:ext cx="10789920" cy="548640"/>
          </a:xfrm>
          <a:prstGeom prst="rect">
            <a:avLst/>
          </a:prstGeom>
          <a:noFill/>
        </p:spPr>
        <p:txBody>
          <a:bodyPr wrap="square" anchor="ctr" lIns="25400" rIns="25400" tIns="25400" bIns="25400">
            <a:spAutoFit/>
          </a:bodyPr>
          <a:lstStyle/>
          <a:p>
            <a:pPr algn="l">
              <a:lnSpc>
                <a:spcPct val="105000"/>
              </a:lnSpc>
              <a:spcBef>
                <a:spcPts val="0"/>
              </a:spcBef>
              <a:spcAft>
                <a:spcPts val="600"/>
              </a:spcAft>
            </a:pPr>
            <a:r>
              <a:rPr sz="2800" b="1" i="0">
                <a:solidFill>
                  <a:srgbClr val="FFFFFF"/>
                </a:solidFill>
                <a:latin typeface="Calibri"/>
              </a:rPr>
              <a:t>What is the Expansion Advisor?</a:t>
            </a:r>
          </a:p>
        </p:txBody>
      </p:sp>
      <p:sp>
        <p:nvSpPr>
          <p:cNvPr id="7" name="TextBox 6"/>
          <p:cNvSpPr txBox="1"/>
          <p:nvPr/>
        </p:nvSpPr>
        <p:spPr>
          <a:xfrm>
            <a:off x="777240" y="1417320"/>
            <a:ext cx="10607040" cy="914400"/>
          </a:xfrm>
          <a:prstGeom prst="rect">
            <a:avLst/>
          </a:prstGeom>
          <a:noFill/>
        </p:spPr>
        <p:txBody>
          <a:bodyPr wrap="square" anchor="t" lIns="25400" rIns="25400" tIns="25400" bIns="25400">
            <a:spAutoFit/>
          </a:bodyPr>
          <a:lstStyle/>
          <a:p>
            <a:pPr algn="l">
              <a:lnSpc>
                <a:spcPct val="115000"/>
              </a:lnSpc>
              <a:spcBef>
                <a:spcPts val="0"/>
              </a:spcBef>
              <a:spcAft>
                <a:spcPts val="600"/>
              </a:spcAft>
            </a:pPr>
            <a:r>
              <a:rPr sz="1800" b="0" i="0">
                <a:solidFill>
                  <a:srgbClr val="232A2E"/>
                </a:solidFill>
                <a:latin typeface="Calibri"/>
              </a:rPr>
              <a:t>It is your location scout. You tell it about your brand and where your current branches are. It then looks across hundreds of commercial sites in Riyadh and tells you which ones are the best places to open next — and why.</a:t>
            </a:r>
          </a:p>
        </p:txBody>
      </p:sp>
      <p:sp>
        <p:nvSpPr>
          <p:cNvPr id="8" name="Rounded Rectangle 7"/>
          <p:cNvSpPr/>
          <p:nvPr/>
        </p:nvSpPr>
        <p:spPr>
          <a:xfrm>
            <a:off x="777240" y="2743200"/>
            <a:ext cx="2615184" cy="2286000"/>
          </a:xfrm>
          <a:prstGeom prst="roundRect">
            <a:avLst/>
          </a:prstGeom>
          <a:solidFill>
            <a:srgbClr val="FFFFFF"/>
          </a:solidFill>
          <a:ln w="12700">
            <a:solidFill>
              <a:srgbClr val="E2DD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777240" y="2743200"/>
            <a:ext cx="91440" cy="2286000"/>
          </a:xfrm>
          <a:prstGeom prst="roundRect">
            <a:avLst/>
          </a:prstGeom>
          <a:solidFill>
            <a:srgbClr val="3C8C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871216"/>
            <a:ext cx="2203704" cy="457200"/>
          </a:xfrm>
          <a:prstGeom prst="rect">
            <a:avLst/>
          </a:prstGeom>
          <a:noFill/>
        </p:spPr>
        <p:txBody>
          <a:bodyPr wrap="square" anchor="t" lIns="25400" rIns="25400" tIns="25400" bIns="25400">
            <a:spAutoFit/>
          </a:bodyPr>
          <a:lstStyle/>
          <a:p>
            <a:pPr algn="l">
              <a:lnSpc>
                <a:spcPct val="105000"/>
              </a:lnSpc>
              <a:spcBef>
                <a:spcPts val="0"/>
              </a:spcBef>
              <a:spcAft>
                <a:spcPts val="600"/>
              </a:spcAft>
            </a:pPr>
            <a:r>
              <a:rPr sz="1600" b="1" i="0">
                <a:solidFill>
                  <a:srgbClr val="1F4D3E"/>
                </a:solidFill>
                <a:latin typeface="Calibri"/>
              </a:rPr>
              <a:t>Finds sites for you</a:t>
            </a:r>
          </a:p>
        </p:txBody>
      </p:sp>
      <p:sp>
        <p:nvSpPr>
          <p:cNvPr id="11" name="TextBox 10"/>
          <p:cNvSpPr txBox="1"/>
          <p:nvPr/>
        </p:nvSpPr>
        <p:spPr>
          <a:xfrm>
            <a:off x="1033272" y="3310128"/>
            <a:ext cx="2203704" cy="1645920"/>
          </a:xfrm>
          <a:prstGeom prst="rect">
            <a:avLst/>
          </a:prstGeom>
          <a:noFill/>
        </p:spPr>
        <p:txBody>
          <a:bodyPr wrap="square" anchor="t" lIns="25400" rIns="25400" tIns="25400" bIns="25400">
            <a:spAutoFit/>
          </a:bodyPr>
          <a:lstStyle/>
          <a:p>
            <a:pPr algn="l">
              <a:lnSpc>
                <a:spcPct val="100000"/>
              </a:lnSpc>
              <a:spcBef>
                <a:spcPts val="0"/>
              </a:spcBef>
              <a:spcAft>
                <a:spcPts val="400"/>
              </a:spcAft>
            </a:pPr>
            <a:r>
              <a:rPr sz="1400" b="0" i="0">
                <a:solidFill>
                  <a:srgbClr val="5C676B"/>
                </a:solidFill>
                <a:latin typeface="Calibri"/>
              </a:rPr>
              <a:t>Scans the whole city so you</a:t>
            </a:r>
          </a:p>
          <a:p>
            <a:pPr algn="l">
              <a:lnSpc>
                <a:spcPct val="100000"/>
              </a:lnSpc>
              <a:spcBef>
                <a:spcPts val="0"/>
              </a:spcBef>
              <a:spcAft>
                <a:spcPts val="400"/>
              </a:spcAft>
            </a:pPr>
            <a:r>
              <a:rPr sz="1400" b="0" i="0">
                <a:solidFill>
                  <a:srgbClr val="5C676B"/>
                </a:solidFill>
                <a:latin typeface="Calibri"/>
              </a:rPr>
              <a:t>don't have to drive around</a:t>
            </a:r>
          </a:p>
          <a:p>
            <a:pPr algn="l">
              <a:lnSpc>
                <a:spcPct val="100000"/>
              </a:lnSpc>
              <a:spcBef>
                <a:spcPts val="0"/>
              </a:spcBef>
              <a:spcAft>
                <a:spcPts val="400"/>
              </a:spcAft>
            </a:pPr>
            <a:r>
              <a:rPr sz="1400" b="0" i="0">
                <a:solidFill>
                  <a:srgbClr val="5C676B"/>
                </a:solidFill>
                <a:latin typeface="Calibri"/>
              </a:rPr>
              <a:t>scouting blindly.</a:t>
            </a:r>
          </a:p>
        </p:txBody>
      </p:sp>
      <p:sp>
        <p:nvSpPr>
          <p:cNvPr id="12" name="Rounded Rectangle 11"/>
          <p:cNvSpPr/>
          <p:nvPr/>
        </p:nvSpPr>
        <p:spPr>
          <a:xfrm>
            <a:off x="3557016" y="2743200"/>
            <a:ext cx="2615184" cy="2286000"/>
          </a:xfrm>
          <a:prstGeom prst="roundRect">
            <a:avLst/>
          </a:prstGeom>
          <a:solidFill>
            <a:srgbClr val="FFFFFF"/>
          </a:solidFill>
          <a:ln w="12700">
            <a:solidFill>
              <a:srgbClr val="E2DD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3557016" y="2743200"/>
            <a:ext cx="91440" cy="2286000"/>
          </a:xfrm>
          <a:prstGeom prst="roundRect">
            <a:avLst/>
          </a:prstGeom>
          <a:solidFill>
            <a:srgbClr val="1F4D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813048" y="2871216"/>
            <a:ext cx="2203704" cy="457200"/>
          </a:xfrm>
          <a:prstGeom prst="rect">
            <a:avLst/>
          </a:prstGeom>
          <a:noFill/>
        </p:spPr>
        <p:txBody>
          <a:bodyPr wrap="square" anchor="t" lIns="25400" rIns="25400" tIns="25400" bIns="25400">
            <a:spAutoFit/>
          </a:bodyPr>
          <a:lstStyle/>
          <a:p>
            <a:pPr algn="l">
              <a:lnSpc>
                <a:spcPct val="105000"/>
              </a:lnSpc>
              <a:spcBef>
                <a:spcPts val="0"/>
              </a:spcBef>
              <a:spcAft>
                <a:spcPts val="600"/>
              </a:spcAft>
            </a:pPr>
            <a:r>
              <a:rPr sz="1600" b="1" i="0">
                <a:solidFill>
                  <a:srgbClr val="1F4D3E"/>
                </a:solidFill>
                <a:latin typeface="Calibri"/>
              </a:rPr>
              <a:t>Ranks them 1–15</a:t>
            </a:r>
          </a:p>
        </p:txBody>
      </p:sp>
      <p:sp>
        <p:nvSpPr>
          <p:cNvPr id="15" name="TextBox 14"/>
          <p:cNvSpPr txBox="1"/>
          <p:nvPr/>
        </p:nvSpPr>
        <p:spPr>
          <a:xfrm>
            <a:off x="3813048" y="3310128"/>
            <a:ext cx="2203704" cy="1645920"/>
          </a:xfrm>
          <a:prstGeom prst="rect">
            <a:avLst/>
          </a:prstGeom>
          <a:noFill/>
        </p:spPr>
        <p:txBody>
          <a:bodyPr wrap="square" anchor="t" lIns="25400" rIns="25400" tIns="25400" bIns="25400">
            <a:spAutoFit/>
          </a:bodyPr>
          <a:lstStyle/>
          <a:p>
            <a:pPr algn="l">
              <a:lnSpc>
                <a:spcPct val="100000"/>
              </a:lnSpc>
              <a:spcBef>
                <a:spcPts val="0"/>
              </a:spcBef>
              <a:spcAft>
                <a:spcPts val="400"/>
              </a:spcAft>
            </a:pPr>
            <a:r>
              <a:rPr sz="1400" b="0" i="0">
                <a:solidFill>
                  <a:srgbClr val="5C676B"/>
                </a:solidFill>
                <a:latin typeface="Calibri"/>
              </a:rPr>
              <a:t>Sorts the best candidates</a:t>
            </a:r>
          </a:p>
          <a:p>
            <a:pPr algn="l">
              <a:lnSpc>
                <a:spcPct val="100000"/>
              </a:lnSpc>
              <a:spcBef>
                <a:spcPts val="0"/>
              </a:spcBef>
              <a:spcAft>
                <a:spcPts val="400"/>
              </a:spcAft>
            </a:pPr>
            <a:r>
              <a:rPr sz="1400" b="0" i="0">
                <a:solidFill>
                  <a:srgbClr val="5C676B"/>
                </a:solidFill>
                <a:latin typeface="Calibri"/>
              </a:rPr>
              <a:t>to the top with a clear</a:t>
            </a:r>
          </a:p>
          <a:p>
            <a:pPr algn="l">
              <a:lnSpc>
                <a:spcPct val="100000"/>
              </a:lnSpc>
              <a:spcBef>
                <a:spcPts val="0"/>
              </a:spcBef>
              <a:spcAft>
                <a:spcPts val="400"/>
              </a:spcAft>
            </a:pPr>
            <a:r>
              <a:rPr sz="1400" b="0" i="0">
                <a:solidFill>
                  <a:srgbClr val="5C676B"/>
                </a:solidFill>
                <a:latin typeface="Calibri"/>
              </a:rPr>
              <a:t>score out of 100.</a:t>
            </a:r>
          </a:p>
        </p:txBody>
      </p:sp>
      <p:sp>
        <p:nvSpPr>
          <p:cNvPr id="16" name="Rounded Rectangle 15"/>
          <p:cNvSpPr/>
          <p:nvPr/>
        </p:nvSpPr>
        <p:spPr>
          <a:xfrm>
            <a:off x="6336792" y="2743200"/>
            <a:ext cx="2615184" cy="2286000"/>
          </a:xfrm>
          <a:prstGeom prst="roundRect">
            <a:avLst/>
          </a:prstGeom>
          <a:solidFill>
            <a:srgbClr val="FFFFFF"/>
          </a:solidFill>
          <a:ln w="12700">
            <a:solidFill>
              <a:srgbClr val="E2DD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336792" y="2743200"/>
            <a:ext cx="91440" cy="2286000"/>
          </a:xfrm>
          <a:prstGeom prst="roundRect">
            <a:avLst/>
          </a:prstGeom>
          <a:solidFill>
            <a:srgbClr val="C88A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592824" y="2871216"/>
            <a:ext cx="2203704" cy="457200"/>
          </a:xfrm>
          <a:prstGeom prst="rect">
            <a:avLst/>
          </a:prstGeom>
          <a:noFill/>
        </p:spPr>
        <p:txBody>
          <a:bodyPr wrap="square" anchor="t" lIns="25400" rIns="25400" tIns="25400" bIns="25400">
            <a:spAutoFit/>
          </a:bodyPr>
          <a:lstStyle/>
          <a:p>
            <a:pPr algn="l">
              <a:lnSpc>
                <a:spcPct val="105000"/>
              </a:lnSpc>
              <a:spcBef>
                <a:spcPts val="0"/>
              </a:spcBef>
              <a:spcAft>
                <a:spcPts val="600"/>
              </a:spcAft>
            </a:pPr>
            <a:r>
              <a:rPr sz="1600" b="1" i="0">
                <a:solidFill>
                  <a:srgbClr val="1F4D3E"/>
                </a:solidFill>
                <a:latin typeface="Calibri"/>
              </a:rPr>
              <a:t>Explains every result</a:t>
            </a:r>
          </a:p>
        </p:txBody>
      </p:sp>
      <p:sp>
        <p:nvSpPr>
          <p:cNvPr id="19" name="TextBox 18"/>
          <p:cNvSpPr txBox="1"/>
          <p:nvPr/>
        </p:nvSpPr>
        <p:spPr>
          <a:xfrm>
            <a:off x="6592824" y="3310128"/>
            <a:ext cx="2203704" cy="1645920"/>
          </a:xfrm>
          <a:prstGeom prst="rect">
            <a:avLst/>
          </a:prstGeom>
          <a:noFill/>
        </p:spPr>
        <p:txBody>
          <a:bodyPr wrap="square" anchor="t" lIns="25400" rIns="25400" tIns="25400" bIns="25400">
            <a:spAutoFit/>
          </a:bodyPr>
          <a:lstStyle/>
          <a:p>
            <a:pPr algn="l">
              <a:lnSpc>
                <a:spcPct val="100000"/>
              </a:lnSpc>
              <a:spcBef>
                <a:spcPts val="0"/>
              </a:spcBef>
              <a:spcAft>
                <a:spcPts val="400"/>
              </a:spcAft>
            </a:pPr>
            <a:r>
              <a:rPr sz="1400" b="0" i="0">
                <a:solidFill>
                  <a:srgbClr val="5C676B"/>
                </a:solidFill>
                <a:latin typeface="Calibri"/>
              </a:rPr>
              <a:t>Shows the reasons a site is</a:t>
            </a:r>
          </a:p>
          <a:p>
            <a:pPr algn="l">
              <a:lnSpc>
                <a:spcPct val="100000"/>
              </a:lnSpc>
              <a:spcBef>
                <a:spcPts val="0"/>
              </a:spcBef>
              <a:spcAft>
                <a:spcPts val="400"/>
              </a:spcAft>
            </a:pPr>
            <a:r>
              <a:rPr sz="1400" b="0" i="0">
                <a:solidFill>
                  <a:srgbClr val="5C676B"/>
                </a:solidFill>
                <a:latin typeface="Calibri"/>
              </a:rPr>
              <a:t>strong or risky in plain</a:t>
            </a:r>
          </a:p>
          <a:p>
            <a:pPr algn="l">
              <a:lnSpc>
                <a:spcPct val="100000"/>
              </a:lnSpc>
              <a:spcBef>
                <a:spcPts val="0"/>
              </a:spcBef>
              <a:spcAft>
                <a:spcPts val="400"/>
              </a:spcAft>
            </a:pPr>
            <a:r>
              <a:rPr sz="1400" b="0" i="0">
                <a:solidFill>
                  <a:srgbClr val="5C676B"/>
                </a:solidFill>
                <a:latin typeface="Calibri"/>
              </a:rPr>
              <a:t>language.</a:t>
            </a:r>
          </a:p>
        </p:txBody>
      </p:sp>
      <p:sp>
        <p:nvSpPr>
          <p:cNvPr id="20" name="Rounded Rectangle 19"/>
          <p:cNvSpPr/>
          <p:nvPr/>
        </p:nvSpPr>
        <p:spPr>
          <a:xfrm>
            <a:off x="9116568" y="2743200"/>
            <a:ext cx="2615184" cy="2286000"/>
          </a:xfrm>
          <a:prstGeom prst="roundRect">
            <a:avLst/>
          </a:prstGeom>
          <a:solidFill>
            <a:srgbClr val="FFFFFF"/>
          </a:solidFill>
          <a:ln w="12700">
            <a:solidFill>
              <a:srgbClr val="E2DD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9116568" y="2743200"/>
            <a:ext cx="91440" cy="2286000"/>
          </a:xfrm>
          <a:prstGeom prst="roundRect">
            <a:avLst/>
          </a:prstGeom>
          <a:solidFill>
            <a:srgbClr val="B33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372600" y="2871216"/>
            <a:ext cx="2203704" cy="457200"/>
          </a:xfrm>
          <a:prstGeom prst="rect">
            <a:avLst/>
          </a:prstGeom>
          <a:noFill/>
        </p:spPr>
        <p:txBody>
          <a:bodyPr wrap="square" anchor="t" lIns="25400" rIns="25400" tIns="25400" bIns="25400">
            <a:spAutoFit/>
          </a:bodyPr>
          <a:lstStyle/>
          <a:p>
            <a:pPr algn="l">
              <a:lnSpc>
                <a:spcPct val="105000"/>
              </a:lnSpc>
              <a:spcBef>
                <a:spcPts val="0"/>
              </a:spcBef>
              <a:spcAft>
                <a:spcPts val="600"/>
              </a:spcAft>
            </a:pPr>
            <a:r>
              <a:rPr sz="1600" b="1" i="0">
                <a:solidFill>
                  <a:srgbClr val="1F4D3E"/>
                </a:solidFill>
                <a:latin typeface="Calibri"/>
              </a:rPr>
              <a:t>Protects your branches</a:t>
            </a:r>
          </a:p>
        </p:txBody>
      </p:sp>
      <p:sp>
        <p:nvSpPr>
          <p:cNvPr id="23" name="TextBox 22"/>
          <p:cNvSpPr txBox="1"/>
          <p:nvPr/>
        </p:nvSpPr>
        <p:spPr>
          <a:xfrm>
            <a:off x="9372600" y="3310128"/>
            <a:ext cx="2203704" cy="1645920"/>
          </a:xfrm>
          <a:prstGeom prst="rect">
            <a:avLst/>
          </a:prstGeom>
          <a:noFill/>
        </p:spPr>
        <p:txBody>
          <a:bodyPr wrap="square" anchor="t" lIns="25400" rIns="25400" tIns="25400" bIns="25400">
            <a:spAutoFit/>
          </a:bodyPr>
          <a:lstStyle/>
          <a:p>
            <a:pPr algn="l">
              <a:lnSpc>
                <a:spcPct val="100000"/>
              </a:lnSpc>
              <a:spcBef>
                <a:spcPts val="0"/>
              </a:spcBef>
              <a:spcAft>
                <a:spcPts val="400"/>
              </a:spcAft>
            </a:pPr>
            <a:r>
              <a:rPr sz="1400" b="0" i="0">
                <a:solidFill>
                  <a:srgbClr val="5C676B"/>
                </a:solidFill>
                <a:latin typeface="Calibri"/>
              </a:rPr>
              <a:t>Warns you when a new site</a:t>
            </a:r>
          </a:p>
          <a:p>
            <a:pPr algn="l">
              <a:lnSpc>
                <a:spcPct val="100000"/>
              </a:lnSpc>
              <a:spcBef>
                <a:spcPts val="0"/>
              </a:spcBef>
              <a:spcAft>
                <a:spcPts val="400"/>
              </a:spcAft>
            </a:pPr>
            <a:r>
              <a:rPr sz="1400" b="0" i="0">
                <a:solidFill>
                  <a:srgbClr val="5C676B"/>
                </a:solidFill>
                <a:latin typeface="Calibri"/>
              </a:rPr>
              <a:t>is too close to a store</a:t>
            </a:r>
          </a:p>
          <a:p>
            <a:pPr algn="l">
              <a:lnSpc>
                <a:spcPct val="100000"/>
              </a:lnSpc>
              <a:spcBef>
                <a:spcPts val="0"/>
              </a:spcBef>
              <a:spcAft>
                <a:spcPts val="400"/>
              </a:spcAft>
            </a:pPr>
            <a:r>
              <a:rPr sz="1400" b="0" i="0">
                <a:solidFill>
                  <a:srgbClr val="5C676B"/>
                </a:solidFill>
                <a:latin typeface="Calibri"/>
              </a:rPr>
              <a:t>you already run.</a:t>
            </a:r>
          </a:p>
        </p:txBody>
      </p:sp>
      <p:sp>
        <p:nvSpPr>
          <p:cNvPr id="24" name="TextBox 23"/>
          <p:cNvSpPr txBox="1"/>
          <p:nvPr/>
        </p:nvSpPr>
        <p:spPr>
          <a:xfrm>
            <a:off x="777240" y="5303520"/>
            <a:ext cx="10607040" cy="822960"/>
          </a:xfrm>
          <a:prstGeom prst="rect">
            <a:avLst/>
          </a:prstGeom>
          <a:noFill/>
        </p:spPr>
        <p:txBody>
          <a:bodyPr wrap="square" anchor="t" lIns="25400" rIns="25400" tIns="25400" bIns="25400">
            <a:spAutoFit/>
          </a:bodyPr>
          <a:lstStyle/>
          <a:p>
            <a:pPr algn="l">
              <a:lnSpc>
                <a:spcPct val="110000"/>
              </a:lnSpc>
              <a:spcBef>
                <a:spcPts val="0"/>
              </a:spcBef>
              <a:spcAft>
                <a:spcPts val="600"/>
              </a:spcAft>
            </a:pPr>
            <a:r>
              <a:rPr sz="1700" b="1" i="0">
                <a:solidFill>
                  <a:srgbClr val="1F4D3E"/>
                </a:solidFill>
                <a:latin typeface="Calibri"/>
              </a:rPr>
              <a:t>The big idea:  </a:t>
            </a:r>
            <a:r>
              <a:rPr sz="1700" b="0" i="0">
                <a:solidFill>
                  <a:srgbClr val="232A2E"/>
                </a:solidFill>
                <a:latin typeface="Calibri"/>
              </a:rPr>
              <a:t>instead of guessing, you make expansion decisions backed by data on demand, competition, rent, and your own branch network.</a:t>
            </a:r>
          </a:p>
        </p:txBody>
      </p:sp>
      <p:sp>
        <p:nvSpPr>
          <p:cNvPr id="25" name="TextBox 24"/>
          <p:cNvSpPr txBox="1"/>
          <p:nvPr/>
        </p:nvSpPr>
        <p:spPr>
          <a:xfrm>
            <a:off x="502920" y="6419088"/>
            <a:ext cx="7315200" cy="320040"/>
          </a:xfrm>
          <a:prstGeom prst="rect">
            <a:avLst/>
          </a:prstGeom>
          <a:noFill/>
        </p:spPr>
        <p:txBody>
          <a:bodyPr wrap="square" anchor="t" lIns="25400" rIns="25400" tIns="25400" bIns="25400">
            <a:spAutoFit/>
          </a:bodyPr>
          <a:lstStyle/>
          <a:p>
            <a:pPr algn="l">
              <a:lnSpc>
                <a:spcPct val="105000"/>
              </a:lnSpc>
              <a:spcBef>
                <a:spcPts val="0"/>
              </a:spcBef>
              <a:spcAft>
                <a:spcPts val="600"/>
              </a:spcAft>
            </a:pPr>
            <a:r>
              <a:rPr sz="1000" b="0" i="0">
                <a:solidFill>
                  <a:srgbClr val="5C676B"/>
                </a:solidFill>
                <a:latin typeface="Calibri"/>
              </a:rPr>
              <a:t>Oaktree Atlas  ·  Expansion Advisor User Guide</a:t>
            </a:r>
          </a:p>
        </p:txBody>
      </p:sp>
      <p:sp>
        <p:nvSpPr>
          <p:cNvPr id="26" name="TextBox 25"/>
          <p:cNvSpPr txBox="1"/>
          <p:nvPr/>
        </p:nvSpPr>
        <p:spPr>
          <a:xfrm>
            <a:off x="10058400" y="6419088"/>
            <a:ext cx="1645920" cy="320040"/>
          </a:xfrm>
          <a:prstGeom prst="rect">
            <a:avLst/>
          </a:prstGeom>
          <a:noFill/>
        </p:spPr>
        <p:txBody>
          <a:bodyPr wrap="square" anchor="t" lIns="25400" rIns="25400" tIns="25400" bIns="25400">
            <a:spAutoFit/>
          </a:bodyPr>
          <a:lstStyle/>
          <a:p>
            <a:pPr algn="r">
              <a:lnSpc>
                <a:spcPct val="105000"/>
              </a:lnSpc>
              <a:spcBef>
                <a:spcPts val="0"/>
              </a:spcBef>
              <a:spcAft>
                <a:spcPts val="600"/>
              </a:spcAft>
            </a:pPr>
            <a:r>
              <a:rPr sz="1000" b="1" i="0">
                <a:solidFill>
                  <a:srgbClr val="5C676B"/>
                </a:solidFill>
                <a:latin typeface="Calibri"/>
              </a:rPr>
              <a:t>1</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1F4D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02920" y="292608"/>
            <a:ext cx="109728" cy="566928"/>
          </a:xfrm>
          <a:prstGeom prst="rect">
            <a:avLst/>
          </a:prstGeom>
          <a:solidFill>
            <a:srgbClr val="3C8C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164592"/>
            <a:ext cx="10789920" cy="365760"/>
          </a:xfrm>
          <a:prstGeom prst="rect">
            <a:avLst/>
          </a:prstGeom>
          <a:noFill/>
        </p:spPr>
        <p:txBody>
          <a:bodyPr wrap="square" anchor="ctr" lIns="25400" rIns="25400" tIns="25400" bIns="25400">
            <a:spAutoFit/>
          </a:bodyPr>
          <a:lstStyle/>
          <a:p>
            <a:pPr algn="l">
              <a:lnSpc>
                <a:spcPct val="105000"/>
              </a:lnSpc>
              <a:spcBef>
                <a:spcPts val="0"/>
              </a:spcBef>
              <a:spcAft>
                <a:spcPts val="600"/>
              </a:spcAft>
            </a:pPr>
            <a:r>
              <a:rPr sz="1300" b="1" i="0">
                <a:solidFill>
                  <a:srgbClr val="BFD9C8"/>
                </a:solidFill>
                <a:latin typeface="Calibri"/>
              </a:rPr>
              <a:t>THE CORE IDEA</a:t>
            </a:r>
          </a:p>
        </p:txBody>
      </p:sp>
      <p:sp>
        <p:nvSpPr>
          <p:cNvPr id="6" name="TextBox 5"/>
          <p:cNvSpPr txBox="1"/>
          <p:nvPr/>
        </p:nvSpPr>
        <p:spPr>
          <a:xfrm>
            <a:off x="777240" y="457200"/>
            <a:ext cx="10789920" cy="548640"/>
          </a:xfrm>
          <a:prstGeom prst="rect">
            <a:avLst/>
          </a:prstGeom>
          <a:noFill/>
        </p:spPr>
        <p:txBody>
          <a:bodyPr wrap="square" anchor="ctr" lIns="25400" rIns="25400" tIns="25400" bIns="25400">
            <a:spAutoFit/>
          </a:bodyPr>
          <a:lstStyle/>
          <a:p>
            <a:pPr algn="l">
              <a:lnSpc>
                <a:spcPct val="105000"/>
              </a:lnSpc>
              <a:spcBef>
                <a:spcPts val="0"/>
              </a:spcBef>
              <a:spcAft>
                <a:spcPts val="600"/>
              </a:spcAft>
            </a:pPr>
            <a:r>
              <a:rPr sz="2800" b="1" i="0">
                <a:solidFill>
                  <a:srgbClr val="FFFFFF"/>
                </a:solidFill>
                <a:latin typeface="Calibri"/>
              </a:rPr>
              <a:t>The 5 questions it answers for every site</a:t>
            </a:r>
          </a:p>
        </p:txBody>
      </p:sp>
      <p:sp>
        <p:nvSpPr>
          <p:cNvPr id="7" name="Rounded Rectangle 6"/>
          <p:cNvSpPr/>
          <p:nvPr/>
        </p:nvSpPr>
        <p:spPr>
          <a:xfrm>
            <a:off x="777240" y="1554480"/>
            <a:ext cx="10607040" cy="841248"/>
          </a:xfrm>
          <a:prstGeom prst="roundRect">
            <a:avLst/>
          </a:prstGeom>
          <a:solidFill>
            <a:srgbClr val="F4EF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777240" y="1554480"/>
            <a:ext cx="109728" cy="841248"/>
          </a:xfrm>
          <a:prstGeom prst="roundRect">
            <a:avLst/>
          </a:prstGeom>
          <a:solidFill>
            <a:srgbClr val="3C8C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1600200"/>
            <a:ext cx="3474720" cy="749808"/>
          </a:xfrm>
          <a:prstGeom prst="rect">
            <a:avLst/>
          </a:prstGeom>
          <a:noFill/>
        </p:spPr>
        <p:txBody>
          <a:bodyPr wrap="square" anchor="ctr" lIns="25400" rIns="25400" tIns="25400" bIns="25400">
            <a:spAutoFit/>
          </a:bodyPr>
          <a:lstStyle/>
          <a:p>
            <a:pPr algn="l">
              <a:lnSpc>
                <a:spcPct val="105000"/>
              </a:lnSpc>
              <a:spcBef>
                <a:spcPts val="0"/>
              </a:spcBef>
              <a:spcAft>
                <a:spcPts val="600"/>
              </a:spcAft>
            </a:pPr>
            <a:r>
              <a:rPr sz="1800" b="1" i="0">
                <a:solidFill>
                  <a:srgbClr val="1F4D3E"/>
                </a:solidFill>
                <a:latin typeface="Calibri"/>
              </a:rPr>
              <a:t>1.  Is there demand?</a:t>
            </a:r>
          </a:p>
        </p:txBody>
      </p:sp>
      <p:sp>
        <p:nvSpPr>
          <p:cNvPr id="10" name="TextBox 9"/>
          <p:cNvSpPr txBox="1"/>
          <p:nvPr/>
        </p:nvSpPr>
        <p:spPr>
          <a:xfrm>
            <a:off x="4572000" y="1600200"/>
            <a:ext cx="6583680" cy="749808"/>
          </a:xfrm>
          <a:prstGeom prst="rect">
            <a:avLst/>
          </a:prstGeom>
          <a:noFill/>
        </p:spPr>
        <p:txBody>
          <a:bodyPr wrap="square" anchor="ctr" lIns="25400" rIns="25400" tIns="25400" bIns="25400">
            <a:spAutoFit/>
          </a:bodyPr>
          <a:lstStyle/>
          <a:p>
            <a:pPr algn="l">
              <a:lnSpc>
                <a:spcPct val="100000"/>
              </a:lnSpc>
              <a:spcBef>
                <a:spcPts val="0"/>
              </a:spcBef>
              <a:spcAft>
                <a:spcPts val="600"/>
              </a:spcAft>
            </a:pPr>
            <a:r>
              <a:rPr sz="1500" b="0" i="0">
                <a:solidFill>
                  <a:srgbClr val="232A2E"/>
                </a:solidFill>
                <a:latin typeface="Calibri"/>
              </a:rPr>
              <a:t>Are there enough people and customers nearby to keep you busy?</a:t>
            </a:r>
          </a:p>
        </p:txBody>
      </p:sp>
      <p:sp>
        <p:nvSpPr>
          <p:cNvPr id="11" name="Rounded Rectangle 10"/>
          <p:cNvSpPr/>
          <p:nvPr/>
        </p:nvSpPr>
        <p:spPr>
          <a:xfrm>
            <a:off x="777240" y="2496312"/>
            <a:ext cx="10607040" cy="841248"/>
          </a:xfrm>
          <a:prstGeom prst="roundRect">
            <a:avLst/>
          </a:prstGeom>
          <a:solidFill>
            <a:srgbClr val="F4EF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777240" y="2496312"/>
            <a:ext cx="109728" cy="841248"/>
          </a:xfrm>
          <a:prstGeom prst="roundRect">
            <a:avLst/>
          </a:prstGeom>
          <a:solidFill>
            <a:srgbClr val="1F4D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97280" y="2542032"/>
            <a:ext cx="3474720" cy="749808"/>
          </a:xfrm>
          <a:prstGeom prst="rect">
            <a:avLst/>
          </a:prstGeom>
          <a:noFill/>
        </p:spPr>
        <p:txBody>
          <a:bodyPr wrap="square" anchor="ctr" lIns="25400" rIns="25400" tIns="25400" bIns="25400">
            <a:spAutoFit/>
          </a:bodyPr>
          <a:lstStyle/>
          <a:p>
            <a:pPr algn="l">
              <a:lnSpc>
                <a:spcPct val="105000"/>
              </a:lnSpc>
              <a:spcBef>
                <a:spcPts val="0"/>
              </a:spcBef>
              <a:spcAft>
                <a:spcPts val="600"/>
              </a:spcAft>
            </a:pPr>
            <a:r>
              <a:rPr sz="1800" b="1" i="0">
                <a:solidFill>
                  <a:srgbClr val="1F4D3E"/>
                </a:solidFill>
                <a:latin typeface="Calibri"/>
              </a:rPr>
              <a:t>2.  Is the market crowded?</a:t>
            </a:r>
          </a:p>
        </p:txBody>
      </p:sp>
      <p:sp>
        <p:nvSpPr>
          <p:cNvPr id="14" name="TextBox 13"/>
          <p:cNvSpPr txBox="1"/>
          <p:nvPr/>
        </p:nvSpPr>
        <p:spPr>
          <a:xfrm>
            <a:off x="4572000" y="2542032"/>
            <a:ext cx="6583680" cy="749808"/>
          </a:xfrm>
          <a:prstGeom prst="rect">
            <a:avLst/>
          </a:prstGeom>
          <a:noFill/>
        </p:spPr>
        <p:txBody>
          <a:bodyPr wrap="square" anchor="ctr" lIns="25400" rIns="25400" tIns="25400" bIns="25400">
            <a:spAutoFit/>
          </a:bodyPr>
          <a:lstStyle/>
          <a:p>
            <a:pPr algn="l">
              <a:lnSpc>
                <a:spcPct val="100000"/>
              </a:lnSpc>
              <a:spcBef>
                <a:spcPts val="0"/>
              </a:spcBef>
              <a:spcAft>
                <a:spcPts val="600"/>
              </a:spcAft>
            </a:pPr>
            <a:r>
              <a:rPr sz="1500" b="0" i="0">
                <a:solidFill>
                  <a:srgbClr val="232A2E"/>
                </a:solidFill>
                <a:latin typeface="Calibri"/>
              </a:rPr>
              <a:t>How many competitors like you are already in the area? (We call open space “whitespace”.)</a:t>
            </a:r>
          </a:p>
        </p:txBody>
      </p:sp>
      <p:sp>
        <p:nvSpPr>
          <p:cNvPr id="15" name="Rounded Rectangle 14"/>
          <p:cNvSpPr/>
          <p:nvPr/>
        </p:nvSpPr>
        <p:spPr>
          <a:xfrm>
            <a:off x="777240" y="3438144"/>
            <a:ext cx="10607040" cy="841248"/>
          </a:xfrm>
          <a:prstGeom prst="roundRect">
            <a:avLst/>
          </a:prstGeom>
          <a:solidFill>
            <a:srgbClr val="F4EF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777240" y="3438144"/>
            <a:ext cx="109728" cy="841248"/>
          </a:xfrm>
          <a:prstGeom prst="roundRect">
            <a:avLst/>
          </a:prstGeom>
          <a:solidFill>
            <a:srgbClr val="C88A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97280" y="3483864"/>
            <a:ext cx="3474720" cy="749808"/>
          </a:xfrm>
          <a:prstGeom prst="rect">
            <a:avLst/>
          </a:prstGeom>
          <a:noFill/>
        </p:spPr>
        <p:txBody>
          <a:bodyPr wrap="square" anchor="ctr" lIns="25400" rIns="25400" tIns="25400" bIns="25400">
            <a:spAutoFit/>
          </a:bodyPr>
          <a:lstStyle/>
          <a:p>
            <a:pPr algn="l">
              <a:lnSpc>
                <a:spcPct val="105000"/>
              </a:lnSpc>
              <a:spcBef>
                <a:spcPts val="0"/>
              </a:spcBef>
              <a:spcAft>
                <a:spcPts val="600"/>
              </a:spcAft>
            </a:pPr>
            <a:r>
              <a:rPr sz="1800" b="1" i="0">
                <a:solidFill>
                  <a:srgbClr val="1F4D3E"/>
                </a:solidFill>
                <a:latin typeface="Calibri"/>
              </a:rPr>
              <a:t>3.  Does it fit my brand?</a:t>
            </a:r>
          </a:p>
        </p:txBody>
      </p:sp>
      <p:sp>
        <p:nvSpPr>
          <p:cNvPr id="18" name="TextBox 17"/>
          <p:cNvSpPr txBox="1"/>
          <p:nvPr/>
        </p:nvSpPr>
        <p:spPr>
          <a:xfrm>
            <a:off x="4572000" y="3483864"/>
            <a:ext cx="6583680" cy="749808"/>
          </a:xfrm>
          <a:prstGeom prst="rect">
            <a:avLst/>
          </a:prstGeom>
          <a:noFill/>
        </p:spPr>
        <p:txBody>
          <a:bodyPr wrap="square" anchor="ctr" lIns="25400" rIns="25400" tIns="25400" bIns="25400">
            <a:spAutoFit/>
          </a:bodyPr>
          <a:lstStyle/>
          <a:p>
            <a:pPr algn="l">
              <a:lnSpc>
                <a:spcPct val="100000"/>
              </a:lnSpc>
              <a:spcBef>
                <a:spcPts val="0"/>
              </a:spcBef>
              <a:spcAft>
                <a:spcPts val="600"/>
              </a:spcAft>
            </a:pPr>
            <a:r>
              <a:rPr sz="1500" b="0" i="0">
                <a:solidFill>
                  <a:srgbClr val="232A2E"/>
                </a:solidFill>
                <a:latin typeface="Calibri"/>
              </a:rPr>
              <a:t>Does the size, location and style suit how you operate — quick-service, dine-in, delivery or café?</a:t>
            </a:r>
          </a:p>
        </p:txBody>
      </p:sp>
      <p:sp>
        <p:nvSpPr>
          <p:cNvPr id="19" name="Rounded Rectangle 18"/>
          <p:cNvSpPr/>
          <p:nvPr/>
        </p:nvSpPr>
        <p:spPr>
          <a:xfrm>
            <a:off x="777240" y="4379976"/>
            <a:ext cx="10607040" cy="841248"/>
          </a:xfrm>
          <a:prstGeom prst="roundRect">
            <a:avLst/>
          </a:prstGeom>
          <a:solidFill>
            <a:srgbClr val="F4EF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777240" y="4379976"/>
            <a:ext cx="109728" cy="841248"/>
          </a:xfrm>
          <a:prstGeom prst="roundRect">
            <a:avLst/>
          </a:prstGeom>
          <a:solidFill>
            <a:srgbClr val="3C8C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097280" y="4425696"/>
            <a:ext cx="3474720" cy="749808"/>
          </a:xfrm>
          <a:prstGeom prst="rect">
            <a:avLst/>
          </a:prstGeom>
          <a:noFill/>
        </p:spPr>
        <p:txBody>
          <a:bodyPr wrap="square" anchor="ctr" lIns="25400" rIns="25400" tIns="25400" bIns="25400">
            <a:spAutoFit/>
          </a:bodyPr>
          <a:lstStyle/>
          <a:p>
            <a:pPr algn="l">
              <a:lnSpc>
                <a:spcPct val="105000"/>
              </a:lnSpc>
              <a:spcBef>
                <a:spcPts val="0"/>
              </a:spcBef>
              <a:spcAft>
                <a:spcPts val="600"/>
              </a:spcAft>
            </a:pPr>
            <a:r>
              <a:rPr sz="1800" b="1" i="0">
                <a:solidFill>
                  <a:srgbClr val="1F4D3E"/>
                </a:solidFill>
                <a:latin typeface="Calibri"/>
              </a:rPr>
              <a:t>4.  Do the numbers work?</a:t>
            </a:r>
          </a:p>
        </p:txBody>
      </p:sp>
      <p:sp>
        <p:nvSpPr>
          <p:cNvPr id="22" name="TextBox 21"/>
          <p:cNvSpPr txBox="1"/>
          <p:nvPr/>
        </p:nvSpPr>
        <p:spPr>
          <a:xfrm>
            <a:off x="4572000" y="4425696"/>
            <a:ext cx="6583680" cy="749808"/>
          </a:xfrm>
          <a:prstGeom prst="rect">
            <a:avLst/>
          </a:prstGeom>
          <a:noFill/>
        </p:spPr>
        <p:txBody>
          <a:bodyPr wrap="square" anchor="ctr" lIns="25400" rIns="25400" tIns="25400" bIns="25400">
            <a:spAutoFit/>
          </a:bodyPr>
          <a:lstStyle/>
          <a:p>
            <a:pPr algn="l">
              <a:lnSpc>
                <a:spcPct val="100000"/>
              </a:lnSpc>
              <a:spcBef>
                <a:spcPts val="0"/>
              </a:spcBef>
              <a:spcAft>
                <a:spcPts val="600"/>
              </a:spcAft>
            </a:pPr>
            <a:r>
              <a:rPr sz="1500" b="0" i="0">
                <a:solidFill>
                  <a:srgbClr val="232A2E"/>
                </a:solidFill>
                <a:latin typeface="Calibri"/>
              </a:rPr>
              <a:t>Is the likely rent sensible compared to the sales the area can support?</a:t>
            </a:r>
          </a:p>
        </p:txBody>
      </p:sp>
      <p:sp>
        <p:nvSpPr>
          <p:cNvPr id="23" name="Rounded Rectangle 22"/>
          <p:cNvSpPr/>
          <p:nvPr/>
        </p:nvSpPr>
        <p:spPr>
          <a:xfrm>
            <a:off x="777240" y="5321808"/>
            <a:ext cx="10607040" cy="841248"/>
          </a:xfrm>
          <a:prstGeom prst="roundRect">
            <a:avLst/>
          </a:prstGeom>
          <a:solidFill>
            <a:srgbClr val="F4EF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777240" y="5321808"/>
            <a:ext cx="109728" cy="841248"/>
          </a:xfrm>
          <a:prstGeom prst="roundRect">
            <a:avLst/>
          </a:prstGeom>
          <a:solidFill>
            <a:srgbClr val="B33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97280" y="5367528"/>
            <a:ext cx="3474720" cy="749808"/>
          </a:xfrm>
          <a:prstGeom prst="rect">
            <a:avLst/>
          </a:prstGeom>
          <a:noFill/>
        </p:spPr>
        <p:txBody>
          <a:bodyPr wrap="square" anchor="ctr" lIns="25400" rIns="25400" tIns="25400" bIns="25400">
            <a:spAutoFit/>
          </a:bodyPr>
          <a:lstStyle/>
          <a:p>
            <a:pPr algn="l">
              <a:lnSpc>
                <a:spcPct val="105000"/>
              </a:lnSpc>
              <a:spcBef>
                <a:spcPts val="0"/>
              </a:spcBef>
              <a:spcAft>
                <a:spcPts val="600"/>
              </a:spcAft>
            </a:pPr>
            <a:r>
              <a:rPr sz="1800" b="1" i="0">
                <a:solidFill>
                  <a:srgbClr val="1F4D3E"/>
                </a:solidFill>
                <a:latin typeface="Calibri"/>
              </a:rPr>
              <a:t>5.  Will it hurt my own stores?</a:t>
            </a:r>
          </a:p>
        </p:txBody>
      </p:sp>
      <p:sp>
        <p:nvSpPr>
          <p:cNvPr id="26" name="TextBox 25"/>
          <p:cNvSpPr txBox="1"/>
          <p:nvPr/>
        </p:nvSpPr>
        <p:spPr>
          <a:xfrm>
            <a:off x="4572000" y="5367528"/>
            <a:ext cx="6583680" cy="749808"/>
          </a:xfrm>
          <a:prstGeom prst="rect">
            <a:avLst/>
          </a:prstGeom>
          <a:noFill/>
        </p:spPr>
        <p:txBody>
          <a:bodyPr wrap="square" anchor="ctr" lIns="25400" rIns="25400" tIns="25400" bIns="25400">
            <a:spAutoFit/>
          </a:bodyPr>
          <a:lstStyle/>
          <a:p>
            <a:pPr algn="l">
              <a:lnSpc>
                <a:spcPct val="100000"/>
              </a:lnSpc>
              <a:spcBef>
                <a:spcPts val="0"/>
              </a:spcBef>
              <a:spcAft>
                <a:spcPts val="600"/>
              </a:spcAft>
            </a:pPr>
            <a:r>
              <a:rPr sz="1500" b="0" i="0">
                <a:solidFill>
                  <a:srgbClr val="232A2E"/>
                </a:solidFill>
                <a:latin typeface="Calibri"/>
              </a:rPr>
              <a:t>Is it far enough from your existing branches so they don't steal each other's customers?</a:t>
            </a:r>
          </a:p>
        </p:txBody>
      </p:sp>
      <p:sp>
        <p:nvSpPr>
          <p:cNvPr id="27" name="TextBox 26"/>
          <p:cNvSpPr txBox="1"/>
          <p:nvPr/>
        </p:nvSpPr>
        <p:spPr>
          <a:xfrm>
            <a:off x="502920" y="6419088"/>
            <a:ext cx="7315200" cy="320040"/>
          </a:xfrm>
          <a:prstGeom prst="rect">
            <a:avLst/>
          </a:prstGeom>
          <a:noFill/>
        </p:spPr>
        <p:txBody>
          <a:bodyPr wrap="square" anchor="t" lIns="25400" rIns="25400" tIns="25400" bIns="25400">
            <a:spAutoFit/>
          </a:bodyPr>
          <a:lstStyle/>
          <a:p>
            <a:pPr algn="l">
              <a:lnSpc>
                <a:spcPct val="105000"/>
              </a:lnSpc>
              <a:spcBef>
                <a:spcPts val="0"/>
              </a:spcBef>
              <a:spcAft>
                <a:spcPts val="600"/>
              </a:spcAft>
            </a:pPr>
            <a:r>
              <a:rPr sz="1000" b="0" i="0">
                <a:solidFill>
                  <a:srgbClr val="5C676B"/>
                </a:solidFill>
                <a:latin typeface="Calibri"/>
              </a:rPr>
              <a:t>Oaktree Atlas  ·  Expansion Advisor User Guide</a:t>
            </a:r>
          </a:p>
        </p:txBody>
      </p:sp>
      <p:sp>
        <p:nvSpPr>
          <p:cNvPr id="28" name="TextBox 27"/>
          <p:cNvSpPr txBox="1"/>
          <p:nvPr/>
        </p:nvSpPr>
        <p:spPr>
          <a:xfrm>
            <a:off x="10058400" y="6419088"/>
            <a:ext cx="1645920" cy="320040"/>
          </a:xfrm>
          <a:prstGeom prst="rect">
            <a:avLst/>
          </a:prstGeom>
          <a:noFill/>
        </p:spPr>
        <p:txBody>
          <a:bodyPr wrap="square" anchor="t" lIns="25400" rIns="25400" tIns="25400" bIns="25400">
            <a:spAutoFit/>
          </a:bodyPr>
          <a:lstStyle/>
          <a:p>
            <a:pPr algn="r">
              <a:lnSpc>
                <a:spcPct val="105000"/>
              </a:lnSpc>
              <a:spcBef>
                <a:spcPts val="0"/>
              </a:spcBef>
              <a:spcAft>
                <a:spcPts val="600"/>
              </a:spcAft>
            </a:pPr>
            <a:r>
              <a:rPr sz="1000" b="1" i="0">
                <a:solidFill>
                  <a:srgbClr val="5C676B"/>
                </a:solidFill>
                <a:latin typeface="Calibri"/>
              </a:rPr>
              <a:t>2</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EF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1F4D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02920" y="292608"/>
            <a:ext cx="109728" cy="566928"/>
          </a:xfrm>
          <a:prstGeom prst="rect">
            <a:avLst/>
          </a:prstGeom>
          <a:solidFill>
            <a:srgbClr val="3C8C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164592"/>
            <a:ext cx="10789920" cy="365760"/>
          </a:xfrm>
          <a:prstGeom prst="rect">
            <a:avLst/>
          </a:prstGeom>
          <a:noFill/>
        </p:spPr>
        <p:txBody>
          <a:bodyPr wrap="square" anchor="ctr" lIns="25400" rIns="25400" tIns="25400" bIns="25400">
            <a:spAutoFit/>
          </a:bodyPr>
          <a:lstStyle/>
          <a:p>
            <a:pPr algn="l">
              <a:lnSpc>
                <a:spcPct val="105000"/>
              </a:lnSpc>
              <a:spcBef>
                <a:spcPts val="0"/>
              </a:spcBef>
              <a:spcAft>
                <a:spcPts val="600"/>
              </a:spcAft>
            </a:pPr>
            <a:r>
              <a:rPr sz="1300" b="1" i="0">
                <a:solidFill>
                  <a:srgbClr val="BFD9C8"/>
                </a:solidFill>
                <a:latin typeface="Calibri"/>
              </a:rPr>
              <a:t>STEP 1 · TELL IT ABOUT YOUR BRAND</a:t>
            </a:r>
          </a:p>
        </p:txBody>
      </p:sp>
      <p:sp>
        <p:nvSpPr>
          <p:cNvPr id="6" name="TextBox 5"/>
          <p:cNvSpPr txBox="1"/>
          <p:nvPr/>
        </p:nvSpPr>
        <p:spPr>
          <a:xfrm>
            <a:off x="777240" y="457200"/>
            <a:ext cx="10789920" cy="548640"/>
          </a:xfrm>
          <a:prstGeom prst="rect">
            <a:avLst/>
          </a:prstGeom>
          <a:noFill/>
        </p:spPr>
        <p:txBody>
          <a:bodyPr wrap="square" anchor="ctr" lIns="25400" rIns="25400" tIns="25400" bIns="25400">
            <a:spAutoFit/>
          </a:bodyPr>
          <a:lstStyle/>
          <a:p>
            <a:pPr algn="l">
              <a:lnSpc>
                <a:spcPct val="105000"/>
              </a:lnSpc>
              <a:spcBef>
                <a:spcPts val="0"/>
              </a:spcBef>
              <a:spcAft>
                <a:spcPts val="600"/>
              </a:spcAft>
            </a:pPr>
            <a:r>
              <a:rPr sz="2800" b="1" i="0">
                <a:solidFill>
                  <a:srgbClr val="FFFFFF"/>
                </a:solidFill>
                <a:latin typeface="Calibri"/>
              </a:rPr>
              <a:t>Running a search in 5 easy steps</a:t>
            </a:r>
          </a:p>
        </p:txBody>
      </p:sp>
      <p:sp>
        <p:nvSpPr>
          <p:cNvPr id="7" name="Oval 6"/>
          <p:cNvSpPr/>
          <p:nvPr/>
        </p:nvSpPr>
        <p:spPr>
          <a:xfrm>
            <a:off x="868680" y="1554480"/>
            <a:ext cx="640080" cy="640080"/>
          </a:xfrm>
          <a:prstGeom prst="ellipse">
            <a:avLst/>
          </a:prstGeom>
          <a:solidFill>
            <a:srgbClr val="1F4D3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2400" b="1">
                <a:solidFill>
                  <a:srgbClr val="FFFFFF"/>
                </a:solidFill>
                <a:latin typeface="Calibri"/>
              </a:rPr>
              <a:t>1</a:t>
            </a:r>
          </a:p>
        </p:txBody>
      </p:sp>
      <p:sp>
        <p:nvSpPr>
          <p:cNvPr id="8" name="TextBox 7"/>
          <p:cNvSpPr txBox="1"/>
          <p:nvPr/>
        </p:nvSpPr>
        <p:spPr>
          <a:xfrm>
            <a:off x="1783080" y="1536192"/>
            <a:ext cx="9509760" cy="713232"/>
          </a:xfrm>
          <a:prstGeom prst="rect">
            <a:avLst/>
          </a:prstGeom>
          <a:noFill/>
        </p:spPr>
        <p:txBody>
          <a:bodyPr wrap="square" anchor="ctr" lIns="25400" rIns="25400" tIns="25400" bIns="25400">
            <a:spAutoFit/>
          </a:bodyPr>
          <a:lstStyle/>
          <a:p>
            <a:pPr algn="l">
              <a:lnSpc>
                <a:spcPct val="100000"/>
              </a:lnSpc>
              <a:spcBef>
                <a:spcPts val="0"/>
              </a:spcBef>
              <a:spcAft>
                <a:spcPts val="600"/>
              </a:spcAft>
            </a:pPr>
            <a:r>
              <a:rPr sz="1800" b="1" i="0">
                <a:solidFill>
                  <a:srgbClr val="1F4D3E"/>
                </a:solidFill>
                <a:latin typeface="Calibri"/>
              </a:rPr>
              <a:t>Open the Expansion Brief form   </a:t>
            </a:r>
            <a:r>
              <a:rPr sz="1500" b="0" i="0">
                <a:solidFill>
                  <a:srgbClr val="5C676B"/>
                </a:solidFill>
                <a:latin typeface="Calibri"/>
              </a:rPr>
              <a:t>It's the panel on the left when you open the Expansion Advisor.</a:t>
            </a:r>
          </a:p>
        </p:txBody>
      </p:sp>
      <p:sp>
        <p:nvSpPr>
          <p:cNvPr id="9" name="Oval 8"/>
          <p:cNvSpPr/>
          <p:nvPr/>
        </p:nvSpPr>
        <p:spPr>
          <a:xfrm>
            <a:off x="868680" y="2468880"/>
            <a:ext cx="640080" cy="640080"/>
          </a:xfrm>
          <a:prstGeom prst="ellipse">
            <a:avLst/>
          </a:prstGeom>
          <a:solidFill>
            <a:srgbClr val="1F4D3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2400" b="1">
                <a:solidFill>
                  <a:srgbClr val="FFFFFF"/>
                </a:solidFill>
                <a:latin typeface="Calibri"/>
              </a:rPr>
              <a:t>2</a:t>
            </a:r>
          </a:p>
        </p:txBody>
      </p:sp>
      <p:sp>
        <p:nvSpPr>
          <p:cNvPr id="10" name="TextBox 9"/>
          <p:cNvSpPr txBox="1"/>
          <p:nvPr/>
        </p:nvSpPr>
        <p:spPr>
          <a:xfrm>
            <a:off x="1783080" y="2450592"/>
            <a:ext cx="9509760" cy="713232"/>
          </a:xfrm>
          <a:prstGeom prst="rect">
            <a:avLst/>
          </a:prstGeom>
          <a:noFill/>
        </p:spPr>
        <p:txBody>
          <a:bodyPr wrap="square" anchor="ctr" lIns="25400" rIns="25400" tIns="25400" bIns="25400">
            <a:spAutoFit/>
          </a:bodyPr>
          <a:lstStyle/>
          <a:p>
            <a:pPr algn="l">
              <a:lnSpc>
                <a:spcPct val="100000"/>
              </a:lnSpc>
              <a:spcBef>
                <a:spcPts val="0"/>
              </a:spcBef>
              <a:spcAft>
                <a:spcPts val="600"/>
              </a:spcAft>
            </a:pPr>
            <a:r>
              <a:rPr sz="1800" b="1" i="0">
                <a:solidFill>
                  <a:srgbClr val="1F4D3E"/>
                </a:solidFill>
                <a:latin typeface="Calibri"/>
              </a:rPr>
              <a:t>Enter your brand basics   </a:t>
            </a:r>
            <a:r>
              <a:rPr sz="1500" b="0" i="0">
                <a:solidFill>
                  <a:srgbClr val="5C676B"/>
                </a:solidFill>
                <a:latin typeface="Calibri"/>
              </a:rPr>
              <a:t>Brand name, food category (e.g. Burger, Coffee, Shawarma), and your service model: QSR, Dine-in, Delivery-first or Café.</a:t>
            </a:r>
          </a:p>
        </p:txBody>
      </p:sp>
      <p:sp>
        <p:nvSpPr>
          <p:cNvPr id="11" name="Oval 10"/>
          <p:cNvSpPr/>
          <p:nvPr/>
        </p:nvSpPr>
        <p:spPr>
          <a:xfrm>
            <a:off x="868680" y="3383280"/>
            <a:ext cx="640080" cy="640080"/>
          </a:xfrm>
          <a:prstGeom prst="ellipse">
            <a:avLst/>
          </a:prstGeom>
          <a:solidFill>
            <a:srgbClr val="1F4D3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2400" b="1">
                <a:solidFill>
                  <a:srgbClr val="FFFFFF"/>
                </a:solidFill>
                <a:latin typeface="Calibri"/>
              </a:rPr>
              <a:t>3</a:t>
            </a:r>
          </a:p>
        </p:txBody>
      </p:sp>
      <p:sp>
        <p:nvSpPr>
          <p:cNvPr id="12" name="TextBox 11"/>
          <p:cNvSpPr txBox="1"/>
          <p:nvPr/>
        </p:nvSpPr>
        <p:spPr>
          <a:xfrm>
            <a:off x="1783080" y="3364992"/>
            <a:ext cx="9509760" cy="713232"/>
          </a:xfrm>
          <a:prstGeom prst="rect">
            <a:avLst/>
          </a:prstGeom>
          <a:noFill/>
        </p:spPr>
        <p:txBody>
          <a:bodyPr wrap="square" anchor="ctr" lIns="25400" rIns="25400" tIns="25400" bIns="25400">
            <a:spAutoFit/>
          </a:bodyPr>
          <a:lstStyle/>
          <a:p>
            <a:pPr algn="l">
              <a:lnSpc>
                <a:spcPct val="100000"/>
              </a:lnSpc>
              <a:spcBef>
                <a:spcPts val="0"/>
              </a:spcBef>
              <a:spcAft>
                <a:spcPts val="600"/>
              </a:spcAft>
            </a:pPr>
            <a:r>
              <a:rPr sz="1800" b="1" i="0">
                <a:solidFill>
                  <a:srgbClr val="1F4D3E"/>
                </a:solidFill>
                <a:latin typeface="Calibri"/>
              </a:rPr>
              <a:t>Set the size you need   </a:t>
            </a:r>
            <a:r>
              <a:rPr sz="1500" b="0" i="0">
                <a:solidFill>
                  <a:srgbClr val="5C676B"/>
                </a:solidFill>
                <a:latin typeface="Calibri"/>
              </a:rPr>
              <a:t>A minimum and maximum space in square metres (for example 100–500 m²).</a:t>
            </a:r>
          </a:p>
        </p:txBody>
      </p:sp>
      <p:sp>
        <p:nvSpPr>
          <p:cNvPr id="13" name="Oval 12"/>
          <p:cNvSpPr/>
          <p:nvPr/>
        </p:nvSpPr>
        <p:spPr>
          <a:xfrm>
            <a:off x="868680" y="4297680"/>
            <a:ext cx="640080" cy="640080"/>
          </a:xfrm>
          <a:prstGeom prst="ellipse">
            <a:avLst/>
          </a:prstGeom>
          <a:solidFill>
            <a:srgbClr val="1F4D3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2400" b="1">
                <a:solidFill>
                  <a:srgbClr val="FFFFFF"/>
                </a:solidFill>
                <a:latin typeface="Calibri"/>
              </a:rPr>
              <a:t>4</a:t>
            </a:r>
          </a:p>
        </p:txBody>
      </p:sp>
      <p:sp>
        <p:nvSpPr>
          <p:cNvPr id="14" name="TextBox 13"/>
          <p:cNvSpPr txBox="1"/>
          <p:nvPr/>
        </p:nvSpPr>
        <p:spPr>
          <a:xfrm>
            <a:off x="1783080" y="4279392"/>
            <a:ext cx="9509760" cy="713232"/>
          </a:xfrm>
          <a:prstGeom prst="rect">
            <a:avLst/>
          </a:prstGeom>
          <a:noFill/>
        </p:spPr>
        <p:txBody>
          <a:bodyPr wrap="square" anchor="ctr" lIns="25400" rIns="25400" tIns="25400" bIns="25400">
            <a:spAutoFit/>
          </a:bodyPr>
          <a:lstStyle/>
          <a:p>
            <a:pPr algn="l">
              <a:lnSpc>
                <a:spcPct val="100000"/>
              </a:lnSpc>
              <a:spcBef>
                <a:spcPts val="0"/>
              </a:spcBef>
              <a:spcAft>
                <a:spcPts val="600"/>
              </a:spcAft>
            </a:pPr>
            <a:r>
              <a:rPr sz="1800" b="1" i="0">
                <a:solidFill>
                  <a:srgbClr val="1F4D3E"/>
                </a:solidFill>
                <a:latin typeface="Calibri"/>
              </a:rPr>
              <a:t>Add your existing branches   </a:t>
            </a:r>
            <a:r>
              <a:rPr sz="1500" b="0" i="0">
                <a:solidFill>
                  <a:srgbClr val="5C676B"/>
                </a:solidFill>
                <a:latin typeface="Calibri"/>
              </a:rPr>
              <a:t>Optional but recommended — so it can keep new sites a safe distance away.</a:t>
            </a:r>
          </a:p>
        </p:txBody>
      </p:sp>
      <p:sp>
        <p:nvSpPr>
          <p:cNvPr id="15" name="Oval 14"/>
          <p:cNvSpPr/>
          <p:nvPr/>
        </p:nvSpPr>
        <p:spPr>
          <a:xfrm>
            <a:off x="868680" y="5212080"/>
            <a:ext cx="640080" cy="640080"/>
          </a:xfrm>
          <a:prstGeom prst="ellipse">
            <a:avLst/>
          </a:prstGeom>
          <a:solidFill>
            <a:srgbClr val="1F4D3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2400" b="1">
                <a:solidFill>
                  <a:srgbClr val="FFFFFF"/>
                </a:solidFill>
                <a:latin typeface="Calibri"/>
              </a:rPr>
              <a:t>5</a:t>
            </a:r>
          </a:p>
        </p:txBody>
      </p:sp>
      <p:sp>
        <p:nvSpPr>
          <p:cNvPr id="16" name="TextBox 15"/>
          <p:cNvSpPr txBox="1"/>
          <p:nvPr/>
        </p:nvSpPr>
        <p:spPr>
          <a:xfrm>
            <a:off x="1783080" y="5193792"/>
            <a:ext cx="9509760" cy="713232"/>
          </a:xfrm>
          <a:prstGeom prst="rect">
            <a:avLst/>
          </a:prstGeom>
          <a:noFill/>
        </p:spPr>
        <p:txBody>
          <a:bodyPr wrap="square" anchor="ctr" lIns="25400" rIns="25400" tIns="25400" bIns="25400">
            <a:spAutoFit/>
          </a:bodyPr>
          <a:lstStyle/>
          <a:p>
            <a:pPr algn="l">
              <a:lnSpc>
                <a:spcPct val="100000"/>
              </a:lnSpc>
              <a:spcBef>
                <a:spcPts val="0"/>
              </a:spcBef>
              <a:spcAft>
                <a:spcPts val="600"/>
              </a:spcAft>
            </a:pPr>
            <a:r>
              <a:rPr sz="1800" b="1" i="0">
                <a:solidFill>
                  <a:srgbClr val="1F4D3E"/>
                </a:solidFill>
                <a:latin typeface="Calibri"/>
              </a:rPr>
              <a:t>Press “Run Search”   </a:t>
            </a:r>
            <a:r>
              <a:rPr sz="1500" b="0" i="0">
                <a:solidFill>
                  <a:srgbClr val="5C676B"/>
                </a:solidFill>
                <a:latin typeface="Calibri"/>
              </a:rPr>
              <a:t>Sit back. In moments you get a ranked shortlist of the best sites.</a:t>
            </a:r>
          </a:p>
        </p:txBody>
      </p:sp>
      <p:sp>
        <p:nvSpPr>
          <p:cNvPr id="17" name="TextBox 16"/>
          <p:cNvSpPr txBox="1"/>
          <p:nvPr/>
        </p:nvSpPr>
        <p:spPr>
          <a:xfrm>
            <a:off x="1783080" y="6172200"/>
            <a:ext cx="9509760" cy="457200"/>
          </a:xfrm>
          <a:prstGeom prst="rect">
            <a:avLst/>
          </a:prstGeom>
          <a:noFill/>
        </p:spPr>
        <p:txBody>
          <a:bodyPr wrap="square" anchor="t" lIns="25400" rIns="25400" tIns="25400" bIns="25400">
            <a:spAutoFit/>
          </a:bodyPr>
          <a:lstStyle/>
          <a:p>
            <a:pPr algn="l">
              <a:lnSpc>
                <a:spcPct val="105000"/>
              </a:lnSpc>
              <a:spcBef>
                <a:spcPts val="0"/>
              </a:spcBef>
              <a:spcAft>
                <a:spcPts val="600"/>
              </a:spcAft>
            </a:pPr>
            <a:r>
              <a:rPr sz="1300" b="0" i="1">
                <a:solidFill>
                  <a:srgbClr val="5C676B"/>
                </a:solidFill>
                <a:latin typeface="Calibri"/>
              </a:rPr>
              <a:t>Tip: in Advanced settings you can also set price tier, average check, and how much you care about parking, frontage and visibility.</a:t>
            </a:r>
          </a:p>
        </p:txBody>
      </p:sp>
      <p:sp>
        <p:nvSpPr>
          <p:cNvPr id="18" name="TextBox 17"/>
          <p:cNvSpPr txBox="1"/>
          <p:nvPr/>
        </p:nvSpPr>
        <p:spPr>
          <a:xfrm>
            <a:off x="502920" y="6419088"/>
            <a:ext cx="7315200" cy="320040"/>
          </a:xfrm>
          <a:prstGeom prst="rect">
            <a:avLst/>
          </a:prstGeom>
          <a:noFill/>
        </p:spPr>
        <p:txBody>
          <a:bodyPr wrap="square" anchor="t" lIns="25400" rIns="25400" tIns="25400" bIns="25400">
            <a:spAutoFit/>
          </a:bodyPr>
          <a:lstStyle/>
          <a:p>
            <a:pPr algn="l">
              <a:lnSpc>
                <a:spcPct val="105000"/>
              </a:lnSpc>
              <a:spcBef>
                <a:spcPts val="0"/>
              </a:spcBef>
              <a:spcAft>
                <a:spcPts val="600"/>
              </a:spcAft>
            </a:pPr>
            <a:r>
              <a:rPr sz="1000" b="0" i="0">
                <a:solidFill>
                  <a:srgbClr val="5C676B"/>
                </a:solidFill>
                <a:latin typeface="Calibri"/>
              </a:rPr>
              <a:t>Oaktree Atlas  ·  Expansion Advisor User Guide</a:t>
            </a:r>
          </a:p>
        </p:txBody>
      </p:sp>
      <p:sp>
        <p:nvSpPr>
          <p:cNvPr id="19" name="TextBox 18"/>
          <p:cNvSpPr txBox="1"/>
          <p:nvPr/>
        </p:nvSpPr>
        <p:spPr>
          <a:xfrm>
            <a:off x="10058400" y="6419088"/>
            <a:ext cx="1645920" cy="320040"/>
          </a:xfrm>
          <a:prstGeom prst="rect">
            <a:avLst/>
          </a:prstGeom>
          <a:noFill/>
        </p:spPr>
        <p:txBody>
          <a:bodyPr wrap="square" anchor="t" lIns="25400" rIns="25400" tIns="25400" bIns="25400">
            <a:spAutoFit/>
          </a:bodyPr>
          <a:lstStyle/>
          <a:p>
            <a:pPr algn="r">
              <a:lnSpc>
                <a:spcPct val="105000"/>
              </a:lnSpc>
              <a:spcBef>
                <a:spcPts val="0"/>
              </a:spcBef>
              <a:spcAft>
                <a:spcPts val="600"/>
              </a:spcAft>
            </a:pPr>
            <a:r>
              <a:rPr sz="1000" b="1" i="0">
                <a:solidFill>
                  <a:srgbClr val="5C676B"/>
                </a:solidFill>
                <a:latin typeface="Calibri"/>
              </a:rPr>
              <a:t>3</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1F4D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02920" y="292608"/>
            <a:ext cx="109728" cy="566928"/>
          </a:xfrm>
          <a:prstGeom prst="rect">
            <a:avLst/>
          </a:prstGeom>
          <a:solidFill>
            <a:srgbClr val="3C8C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164592"/>
            <a:ext cx="10789920" cy="365760"/>
          </a:xfrm>
          <a:prstGeom prst="rect">
            <a:avLst/>
          </a:prstGeom>
          <a:noFill/>
        </p:spPr>
        <p:txBody>
          <a:bodyPr wrap="square" anchor="ctr" lIns="25400" rIns="25400" tIns="25400" bIns="25400">
            <a:spAutoFit/>
          </a:bodyPr>
          <a:lstStyle/>
          <a:p>
            <a:pPr algn="l">
              <a:lnSpc>
                <a:spcPct val="105000"/>
              </a:lnSpc>
              <a:spcBef>
                <a:spcPts val="0"/>
              </a:spcBef>
              <a:spcAft>
                <a:spcPts val="600"/>
              </a:spcAft>
            </a:pPr>
            <a:r>
              <a:rPr sz="1300" b="1" i="0">
                <a:solidFill>
                  <a:srgbClr val="BFD9C8"/>
                </a:solidFill>
                <a:latin typeface="Calibri"/>
              </a:rPr>
              <a:t>STEP 2 · READ YOUR RESULTS</a:t>
            </a:r>
          </a:p>
        </p:txBody>
      </p:sp>
      <p:sp>
        <p:nvSpPr>
          <p:cNvPr id="6" name="TextBox 5"/>
          <p:cNvSpPr txBox="1"/>
          <p:nvPr/>
        </p:nvSpPr>
        <p:spPr>
          <a:xfrm>
            <a:off x="777240" y="457200"/>
            <a:ext cx="10789920" cy="548640"/>
          </a:xfrm>
          <a:prstGeom prst="rect">
            <a:avLst/>
          </a:prstGeom>
          <a:noFill/>
        </p:spPr>
        <p:txBody>
          <a:bodyPr wrap="square" anchor="ctr" lIns="25400" rIns="25400" tIns="25400" bIns="25400">
            <a:spAutoFit/>
          </a:bodyPr>
          <a:lstStyle/>
          <a:p>
            <a:pPr algn="l">
              <a:lnSpc>
                <a:spcPct val="105000"/>
              </a:lnSpc>
              <a:spcBef>
                <a:spcPts val="0"/>
              </a:spcBef>
              <a:spcAft>
                <a:spcPts val="600"/>
              </a:spcAft>
            </a:pPr>
            <a:r>
              <a:rPr sz="2800" b="1" i="0">
                <a:solidFill>
                  <a:srgbClr val="FFFFFF"/>
                </a:solidFill>
                <a:latin typeface="Calibri"/>
              </a:rPr>
              <a:t>What the Advisor gives you back</a:t>
            </a:r>
          </a:p>
        </p:txBody>
      </p:sp>
      <p:sp>
        <p:nvSpPr>
          <p:cNvPr id="7" name="TextBox 6"/>
          <p:cNvSpPr txBox="1"/>
          <p:nvPr/>
        </p:nvSpPr>
        <p:spPr>
          <a:xfrm>
            <a:off x="777240" y="1371600"/>
            <a:ext cx="10607040" cy="548640"/>
          </a:xfrm>
          <a:prstGeom prst="rect">
            <a:avLst/>
          </a:prstGeom>
          <a:noFill/>
        </p:spPr>
        <p:txBody>
          <a:bodyPr wrap="square" anchor="t" lIns="25400" rIns="25400" tIns="25400" bIns="25400">
            <a:spAutoFit/>
          </a:bodyPr>
          <a:lstStyle/>
          <a:p>
            <a:pPr algn="l">
              <a:lnSpc>
                <a:spcPct val="105000"/>
              </a:lnSpc>
              <a:spcBef>
                <a:spcPts val="0"/>
              </a:spcBef>
              <a:spcAft>
                <a:spcPts val="600"/>
              </a:spcAft>
            </a:pPr>
            <a:r>
              <a:rPr sz="1700" b="0" i="0">
                <a:solidFill>
                  <a:srgbClr val="232A2E"/>
                </a:solidFill>
                <a:latin typeface="Calibri"/>
              </a:rPr>
              <a:t>You receive a ranked shortlist of up to 15 sites. Each one comes as a card you can tap to open.</a:t>
            </a:r>
          </a:p>
        </p:txBody>
      </p:sp>
      <p:sp>
        <p:nvSpPr>
          <p:cNvPr id="8" name="Rounded Rectangle 7"/>
          <p:cNvSpPr/>
          <p:nvPr/>
        </p:nvSpPr>
        <p:spPr>
          <a:xfrm>
            <a:off x="777240" y="2103120"/>
            <a:ext cx="5486400" cy="4023360"/>
          </a:xfrm>
          <a:prstGeom prst="roundRect">
            <a:avLst/>
          </a:prstGeom>
          <a:solidFill>
            <a:srgbClr val="F4EFE6"/>
          </a:solidFill>
          <a:ln w="12700">
            <a:solidFill>
              <a:srgbClr val="E2DD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51560" y="2377440"/>
            <a:ext cx="777240" cy="777240"/>
          </a:xfrm>
          <a:prstGeom prst="ellipse">
            <a:avLst/>
          </a:prstGeom>
          <a:solidFill>
            <a:srgbClr val="1F4D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2400" b="1">
                <a:solidFill>
                  <a:srgbClr val="FFFFFF"/>
                </a:solidFill>
              </a:rPr>
              <a:t>#1</a:t>
            </a:r>
          </a:p>
        </p:txBody>
      </p:sp>
      <p:sp>
        <p:nvSpPr>
          <p:cNvPr id="10" name="TextBox 9"/>
          <p:cNvSpPr txBox="1"/>
          <p:nvPr/>
        </p:nvSpPr>
        <p:spPr>
          <a:xfrm>
            <a:off x="2011680" y="2359152"/>
            <a:ext cx="4023360" cy="822960"/>
          </a:xfrm>
          <a:prstGeom prst="rect">
            <a:avLst/>
          </a:prstGeom>
          <a:noFill/>
        </p:spPr>
        <p:txBody>
          <a:bodyPr wrap="square" anchor="t" lIns="25400" rIns="25400" tIns="25400" bIns="25400">
            <a:spAutoFit/>
          </a:bodyPr>
          <a:lstStyle/>
          <a:p>
            <a:pPr algn="l">
              <a:lnSpc>
                <a:spcPct val="105000"/>
              </a:lnSpc>
              <a:spcBef>
                <a:spcPts val="0"/>
              </a:spcBef>
              <a:spcAft>
                <a:spcPts val="200"/>
              </a:spcAft>
            </a:pPr>
            <a:r>
              <a:rPr sz="1800" b="1" i="0">
                <a:solidFill>
                  <a:srgbClr val="232A2E"/>
                </a:solidFill>
                <a:latin typeface="Calibri"/>
              </a:rPr>
              <a:t>Al Olaya · commercial unit</a:t>
            </a:r>
          </a:p>
          <a:p>
            <a:pPr algn="l">
              <a:lnSpc>
                <a:spcPct val="105000"/>
              </a:lnSpc>
              <a:spcBef>
                <a:spcPts val="0"/>
              </a:spcBef>
              <a:spcAft>
                <a:spcPts val="200"/>
              </a:spcAft>
            </a:pPr>
            <a:r>
              <a:rPr sz="1200" b="0" i="0">
                <a:solidFill>
                  <a:srgbClr val="5C676B"/>
                </a:solidFill>
                <a:latin typeface="Calibri"/>
              </a:rPr>
              <a:t>Example candidate site</a:t>
            </a:r>
          </a:p>
        </p:txBody>
      </p:sp>
      <p:sp>
        <p:nvSpPr>
          <p:cNvPr id="11" name="TextBox 10"/>
          <p:cNvSpPr txBox="1"/>
          <p:nvPr/>
        </p:nvSpPr>
        <p:spPr>
          <a:xfrm>
            <a:off x="1097280" y="3383280"/>
            <a:ext cx="4846320" cy="2377440"/>
          </a:xfrm>
          <a:prstGeom prst="rect">
            <a:avLst/>
          </a:prstGeom>
          <a:noFill/>
        </p:spPr>
        <p:txBody>
          <a:bodyPr wrap="square" anchor="t" lIns="25400" rIns="25400" tIns="25400" bIns="25400">
            <a:spAutoFit/>
          </a:bodyPr>
          <a:lstStyle/>
          <a:p>
            <a:pPr algn="l">
              <a:lnSpc>
                <a:spcPct val="105000"/>
              </a:lnSpc>
              <a:spcBef>
                <a:spcPts val="0"/>
              </a:spcBef>
              <a:spcAft>
                <a:spcPts val="900"/>
              </a:spcAft>
            </a:pPr>
            <a:r>
              <a:rPr sz="1500" b="0" i="0">
                <a:solidFill>
                  <a:srgbClr val="5C676B"/>
                </a:solidFill>
                <a:latin typeface="Calibri"/>
              </a:rPr>
              <a:t>Score  </a:t>
            </a:r>
            <a:r>
              <a:rPr sz="1500" b="1" i="0">
                <a:solidFill>
                  <a:srgbClr val="1F4D3E"/>
                </a:solidFill>
                <a:latin typeface="Calibri"/>
              </a:rPr>
              <a:t>87 / 100</a:t>
            </a:r>
          </a:p>
          <a:p>
            <a:pPr algn="l">
              <a:lnSpc>
                <a:spcPct val="105000"/>
              </a:lnSpc>
              <a:spcBef>
                <a:spcPts val="0"/>
              </a:spcBef>
              <a:spcAft>
                <a:spcPts val="900"/>
              </a:spcAft>
            </a:pPr>
            <a:r>
              <a:rPr sz="1500" b="0" i="0">
                <a:solidFill>
                  <a:srgbClr val="5C676B"/>
                </a:solidFill>
                <a:latin typeface="Calibri"/>
              </a:rPr>
              <a:t>Confidence  </a:t>
            </a:r>
            <a:r>
              <a:rPr sz="1500" b="1" i="0">
                <a:solidFill>
                  <a:srgbClr val="2E8B57"/>
                </a:solidFill>
                <a:latin typeface="Calibri"/>
              </a:rPr>
              <a:t>Grade A</a:t>
            </a:r>
          </a:p>
          <a:p>
            <a:pPr algn="l">
              <a:lnSpc>
                <a:spcPct val="105000"/>
              </a:lnSpc>
              <a:spcBef>
                <a:spcPts val="0"/>
              </a:spcBef>
              <a:spcAft>
                <a:spcPts val="900"/>
              </a:spcAft>
            </a:pPr>
            <a:r>
              <a:rPr sz="1500" b="0" i="0">
                <a:solidFill>
                  <a:srgbClr val="5C676B"/>
                </a:solidFill>
                <a:latin typeface="Calibri"/>
              </a:rPr>
              <a:t>Gate status  </a:t>
            </a:r>
            <a:r>
              <a:rPr sz="1500" b="1" i="0">
                <a:solidFill>
                  <a:srgbClr val="2E8B57"/>
                </a:solidFill>
                <a:latin typeface="Calibri"/>
              </a:rPr>
              <a:t>Pass ✓</a:t>
            </a:r>
          </a:p>
          <a:p>
            <a:pPr algn="l">
              <a:lnSpc>
                <a:spcPct val="105000"/>
              </a:lnSpc>
              <a:spcBef>
                <a:spcPts val="0"/>
              </a:spcBef>
              <a:spcAft>
                <a:spcPts val="900"/>
              </a:spcAft>
            </a:pPr>
            <a:r>
              <a:rPr sz="1500" b="0" i="0">
                <a:solidFill>
                  <a:srgbClr val="5C676B"/>
                </a:solidFill>
                <a:latin typeface="Calibri"/>
              </a:rPr>
              <a:t>Estimated rent  </a:t>
            </a:r>
            <a:r>
              <a:rPr sz="1500" b="1" i="0">
                <a:solidFill>
                  <a:srgbClr val="232A2E"/>
                </a:solidFill>
                <a:latin typeface="Calibri"/>
              </a:rPr>
              <a:t>~ SAR 480,000 / yr</a:t>
            </a:r>
          </a:p>
          <a:p>
            <a:pPr algn="l">
              <a:lnSpc>
                <a:spcPct val="105000"/>
              </a:lnSpc>
              <a:spcBef>
                <a:spcPts val="0"/>
              </a:spcBef>
              <a:spcAft>
                <a:spcPts val="900"/>
              </a:spcAft>
            </a:pPr>
            <a:r>
              <a:rPr sz="1500" b="0" i="0">
                <a:solidFill>
                  <a:srgbClr val="5C676B"/>
                </a:solidFill>
                <a:latin typeface="Calibri"/>
              </a:rPr>
              <a:t>Area  </a:t>
            </a:r>
            <a:r>
              <a:rPr sz="1500" b="1" i="0">
                <a:solidFill>
                  <a:srgbClr val="232A2E"/>
                </a:solidFill>
                <a:latin typeface="Calibri"/>
              </a:rPr>
              <a:t>220 m²</a:t>
            </a:r>
          </a:p>
          <a:p>
            <a:pPr algn="l">
              <a:lnSpc>
                <a:spcPct val="105000"/>
              </a:lnSpc>
              <a:spcBef>
                <a:spcPts val="0"/>
              </a:spcBef>
              <a:spcAft>
                <a:spcPts val="900"/>
              </a:spcAft>
            </a:pPr>
            <a:r>
              <a:rPr sz="1500" b="0" i="0">
                <a:solidFill>
                  <a:srgbClr val="5C676B"/>
                </a:solidFill>
                <a:latin typeface="Calibri"/>
              </a:rPr>
              <a:t>Tier  </a:t>
            </a:r>
            <a:r>
              <a:rPr sz="1500" b="1" i="0">
                <a:solidFill>
                  <a:srgbClr val="3C8C5A"/>
                </a:solidFill>
                <a:latin typeface="Calibri"/>
              </a:rPr>
              <a:t>Premier</a:t>
            </a:r>
          </a:p>
        </p:txBody>
      </p:sp>
      <p:sp>
        <p:nvSpPr>
          <p:cNvPr id="12" name="Rounded Rectangle 11"/>
          <p:cNvSpPr/>
          <p:nvPr/>
        </p:nvSpPr>
        <p:spPr>
          <a:xfrm>
            <a:off x="6537960" y="2103120"/>
            <a:ext cx="4846320" cy="713232"/>
          </a:xfrm>
          <a:prstGeom prst="roundRect">
            <a:avLst/>
          </a:prstGeom>
          <a:solidFill>
            <a:srgbClr val="FFFFFF"/>
          </a:solidFill>
          <a:ln w="12700">
            <a:solidFill>
              <a:srgbClr val="E2DD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537960" y="2103120"/>
            <a:ext cx="91440" cy="713232"/>
          </a:xfrm>
          <a:prstGeom prst="roundRect">
            <a:avLst/>
          </a:prstGeom>
          <a:solidFill>
            <a:srgbClr val="1F4D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793992" y="2139696"/>
            <a:ext cx="4572000" cy="658368"/>
          </a:xfrm>
          <a:prstGeom prst="rect">
            <a:avLst/>
          </a:prstGeom>
          <a:noFill/>
        </p:spPr>
        <p:txBody>
          <a:bodyPr wrap="square" anchor="ctr" lIns="25400" rIns="25400" tIns="25400" bIns="25400">
            <a:spAutoFit/>
          </a:bodyPr>
          <a:lstStyle/>
          <a:p>
            <a:pPr algn="l">
              <a:lnSpc>
                <a:spcPct val="95000"/>
              </a:lnSpc>
              <a:spcBef>
                <a:spcPts val="0"/>
              </a:spcBef>
              <a:spcAft>
                <a:spcPts val="600"/>
              </a:spcAft>
            </a:pPr>
            <a:r>
              <a:rPr sz="1400" b="1" i="0">
                <a:solidFill>
                  <a:srgbClr val="1F4D3E"/>
                </a:solidFill>
                <a:latin typeface="Calibri"/>
              </a:rPr>
              <a:t>Rank &amp; Score  </a:t>
            </a:r>
            <a:r>
              <a:rPr sz="1300" b="0" i="0">
                <a:solidFill>
                  <a:srgbClr val="5C676B"/>
                </a:solidFill>
                <a:latin typeface="Calibri"/>
              </a:rPr>
              <a:t>Higher is better. 100 is a perfect match.</a:t>
            </a:r>
          </a:p>
        </p:txBody>
      </p:sp>
      <p:sp>
        <p:nvSpPr>
          <p:cNvPr id="15" name="Rounded Rectangle 14"/>
          <p:cNvSpPr/>
          <p:nvPr/>
        </p:nvSpPr>
        <p:spPr>
          <a:xfrm>
            <a:off x="6537960" y="2889504"/>
            <a:ext cx="4846320" cy="713232"/>
          </a:xfrm>
          <a:prstGeom prst="roundRect">
            <a:avLst/>
          </a:prstGeom>
          <a:solidFill>
            <a:srgbClr val="FFFFFF"/>
          </a:solidFill>
          <a:ln w="12700">
            <a:solidFill>
              <a:srgbClr val="E2DD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537960" y="2889504"/>
            <a:ext cx="91440" cy="713232"/>
          </a:xfrm>
          <a:prstGeom prst="roundRect">
            <a:avLst/>
          </a:prstGeom>
          <a:solidFill>
            <a:srgbClr val="3C8C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793992" y="2926080"/>
            <a:ext cx="4572000" cy="658368"/>
          </a:xfrm>
          <a:prstGeom prst="rect">
            <a:avLst/>
          </a:prstGeom>
          <a:noFill/>
        </p:spPr>
        <p:txBody>
          <a:bodyPr wrap="square" anchor="ctr" lIns="25400" rIns="25400" tIns="25400" bIns="25400">
            <a:spAutoFit/>
          </a:bodyPr>
          <a:lstStyle/>
          <a:p>
            <a:pPr algn="l">
              <a:lnSpc>
                <a:spcPct val="95000"/>
              </a:lnSpc>
              <a:spcBef>
                <a:spcPts val="0"/>
              </a:spcBef>
              <a:spcAft>
                <a:spcPts val="600"/>
              </a:spcAft>
            </a:pPr>
            <a:r>
              <a:rPr sz="1400" b="1" i="0">
                <a:solidFill>
                  <a:srgbClr val="1F4D3E"/>
                </a:solidFill>
                <a:latin typeface="Calibri"/>
              </a:rPr>
              <a:t>Confidence (A–D)  </a:t>
            </a:r>
            <a:r>
              <a:rPr sz="1300" b="0" i="0">
                <a:solidFill>
                  <a:srgbClr val="5C676B"/>
                </a:solidFill>
                <a:latin typeface="Calibri"/>
              </a:rPr>
              <a:t>How sure we are. A = strong data, D = rough estimate.</a:t>
            </a:r>
          </a:p>
        </p:txBody>
      </p:sp>
      <p:sp>
        <p:nvSpPr>
          <p:cNvPr id="18" name="Rounded Rectangle 17"/>
          <p:cNvSpPr/>
          <p:nvPr/>
        </p:nvSpPr>
        <p:spPr>
          <a:xfrm>
            <a:off x="6537960" y="3675888"/>
            <a:ext cx="4846320" cy="713232"/>
          </a:xfrm>
          <a:prstGeom prst="roundRect">
            <a:avLst/>
          </a:prstGeom>
          <a:solidFill>
            <a:srgbClr val="FFFFFF"/>
          </a:solidFill>
          <a:ln w="12700">
            <a:solidFill>
              <a:srgbClr val="E2DD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6537960" y="3675888"/>
            <a:ext cx="91440" cy="713232"/>
          </a:xfrm>
          <a:prstGeom prst="roundRect">
            <a:avLst/>
          </a:prstGeom>
          <a:solidFill>
            <a:srgbClr val="C88A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793992" y="3712464"/>
            <a:ext cx="4572000" cy="658368"/>
          </a:xfrm>
          <a:prstGeom prst="rect">
            <a:avLst/>
          </a:prstGeom>
          <a:noFill/>
        </p:spPr>
        <p:txBody>
          <a:bodyPr wrap="square" anchor="ctr" lIns="25400" rIns="25400" tIns="25400" bIns="25400">
            <a:spAutoFit/>
          </a:bodyPr>
          <a:lstStyle/>
          <a:p>
            <a:pPr algn="l">
              <a:lnSpc>
                <a:spcPct val="95000"/>
              </a:lnSpc>
              <a:spcBef>
                <a:spcPts val="0"/>
              </a:spcBef>
              <a:spcAft>
                <a:spcPts val="600"/>
              </a:spcAft>
            </a:pPr>
            <a:r>
              <a:rPr sz="1400" b="1" i="0">
                <a:solidFill>
                  <a:srgbClr val="1F4D3E"/>
                </a:solidFill>
                <a:latin typeface="Calibri"/>
              </a:rPr>
              <a:t>Gate status  </a:t>
            </a:r>
            <a:r>
              <a:rPr sz="1300" b="0" i="0">
                <a:solidFill>
                  <a:srgbClr val="5C676B"/>
                </a:solidFill>
                <a:latin typeface="Calibri"/>
              </a:rPr>
              <a:t>A quick safety check — Pass, Unknown, or Fail.</a:t>
            </a:r>
          </a:p>
        </p:txBody>
      </p:sp>
      <p:sp>
        <p:nvSpPr>
          <p:cNvPr id="21" name="Rounded Rectangle 20"/>
          <p:cNvSpPr/>
          <p:nvPr/>
        </p:nvSpPr>
        <p:spPr>
          <a:xfrm>
            <a:off x="6537960" y="4462272"/>
            <a:ext cx="4846320" cy="713232"/>
          </a:xfrm>
          <a:prstGeom prst="roundRect">
            <a:avLst/>
          </a:prstGeom>
          <a:solidFill>
            <a:srgbClr val="FFFFFF"/>
          </a:solidFill>
          <a:ln w="12700">
            <a:solidFill>
              <a:srgbClr val="E2DD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6537960" y="4462272"/>
            <a:ext cx="91440" cy="713232"/>
          </a:xfrm>
          <a:prstGeom prst="roundRect">
            <a:avLst/>
          </a:prstGeom>
          <a:solidFill>
            <a:srgbClr val="232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793992" y="4498848"/>
            <a:ext cx="4572000" cy="658368"/>
          </a:xfrm>
          <a:prstGeom prst="rect">
            <a:avLst/>
          </a:prstGeom>
          <a:noFill/>
        </p:spPr>
        <p:txBody>
          <a:bodyPr wrap="square" anchor="ctr" lIns="25400" rIns="25400" tIns="25400" bIns="25400">
            <a:spAutoFit/>
          </a:bodyPr>
          <a:lstStyle/>
          <a:p>
            <a:pPr algn="l">
              <a:lnSpc>
                <a:spcPct val="95000"/>
              </a:lnSpc>
              <a:spcBef>
                <a:spcPts val="0"/>
              </a:spcBef>
              <a:spcAft>
                <a:spcPts val="600"/>
              </a:spcAft>
            </a:pPr>
            <a:r>
              <a:rPr sz="1400" b="1" i="0">
                <a:solidFill>
                  <a:srgbClr val="1F4D3E"/>
                </a:solidFill>
                <a:latin typeface="Calibri"/>
              </a:rPr>
              <a:t>Estimated rent  </a:t>
            </a:r>
            <a:r>
              <a:rPr sz="1300" b="0" i="0">
                <a:solidFill>
                  <a:srgbClr val="5C676B"/>
                </a:solidFill>
                <a:latin typeface="Calibri"/>
              </a:rPr>
              <a:t>Likely yearly rent for the unit.</a:t>
            </a:r>
          </a:p>
        </p:txBody>
      </p:sp>
      <p:sp>
        <p:nvSpPr>
          <p:cNvPr id="24" name="Rounded Rectangle 23"/>
          <p:cNvSpPr/>
          <p:nvPr/>
        </p:nvSpPr>
        <p:spPr>
          <a:xfrm>
            <a:off x="6537960" y="5248656"/>
            <a:ext cx="4846320" cy="713232"/>
          </a:xfrm>
          <a:prstGeom prst="roundRect">
            <a:avLst/>
          </a:prstGeom>
          <a:solidFill>
            <a:srgbClr val="FFFFFF"/>
          </a:solidFill>
          <a:ln w="12700">
            <a:solidFill>
              <a:srgbClr val="E2DD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6537960" y="5248656"/>
            <a:ext cx="91440" cy="713232"/>
          </a:xfrm>
          <a:prstGeom prst="roundRect">
            <a:avLst/>
          </a:prstGeom>
          <a:solidFill>
            <a:srgbClr val="B33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793992" y="5285232"/>
            <a:ext cx="4572000" cy="658368"/>
          </a:xfrm>
          <a:prstGeom prst="rect">
            <a:avLst/>
          </a:prstGeom>
          <a:noFill/>
        </p:spPr>
        <p:txBody>
          <a:bodyPr wrap="square" anchor="ctr" lIns="25400" rIns="25400" tIns="25400" bIns="25400">
            <a:spAutoFit/>
          </a:bodyPr>
          <a:lstStyle/>
          <a:p>
            <a:pPr algn="l">
              <a:lnSpc>
                <a:spcPct val="95000"/>
              </a:lnSpc>
              <a:spcBef>
                <a:spcPts val="0"/>
              </a:spcBef>
              <a:spcAft>
                <a:spcPts val="600"/>
              </a:spcAft>
            </a:pPr>
            <a:r>
              <a:rPr sz="1400" b="1" i="0">
                <a:solidFill>
                  <a:srgbClr val="1F4D3E"/>
                </a:solidFill>
                <a:latin typeface="Calibri"/>
              </a:rPr>
              <a:t>Tier  </a:t>
            </a:r>
            <a:r>
              <a:rPr sz="1300" b="0" i="0">
                <a:solidFill>
                  <a:srgbClr val="5C676B"/>
                </a:solidFill>
                <a:latin typeface="Calibri"/>
              </a:rPr>
              <a:t>Premier = best fit, Standard, or Exploratory.</a:t>
            </a:r>
          </a:p>
        </p:txBody>
      </p:sp>
      <p:sp>
        <p:nvSpPr>
          <p:cNvPr id="27" name="TextBox 26"/>
          <p:cNvSpPr txBox="1"/>
          <p:nvPr/>
        </p:nvSpPr>
        <p:spPr>
          <a:xfrm>
            <a:off x="502920" y="6419088"/>
            <a:ext cx="7315200" cy="320040"/>
          </a:xfrm>
          <a:prstGeom prst="rect">
            <a:avLst/>
          </a:prstGeom>
          <a:noFill/>
        </p:spPr>
        <p:txBody>
          <a:bodyPr wrap="square" anchor="t" lIns="25400" rIns="25400" tIns="25400" bIns="25400">
            <a:spAutoFit/>
          </a:bodyPr>
          <a:lstStyle/>
          <a:p>
            <a:pPr algn="l">
              <a:lnSpc>
                <a:spcPct val="105000"/>
              </a:lnSpc>
              <a:spcBef>
                <a:spcPts val="0"/>
              </a:spcBef>
              <a:spcAft>
                <a:spcPts val="600"/>
              </a:spcAft>
            </a:pPr>
            <a:r>
              <a:rPr sz="1000" b="0" i="0">
                <a:solidFill>
                  <a:srgbClr val="5C676B"/>
                </a:solidFill>
                <a:latin typeface="Calibri"/>
              </a:rPr>
              <a:t>Oaktree Atlas  ·  Expansion Advisor User Guide</a:t>
            </a:r>
          </a:p>
        </p:txBody>
      </p:sp>
      <p:sp>
        <p:nvSpPr>
          <p:cNvPr id="28" name="TextBox 27"/>
          <p:cNvSpPr txBox="1"/>
          <p:nvPr/>
        </p:nvSpPr>
        <p:spPr>
          <a:xfrm>
            <a:off x="10058400" y="6419088"/>
            <a:ext cx="1645920" cy="320040"/>
          </a:xfrm>
          <a:prstGeom prst="rect">
            <a:avLst/>
          </a:prstGeom>
          <a:noFill/>
        </p:spPr>
        <p:txBody>
          <a:bodyPr wrap="square" anchor="t" lIns="25400" rIns="25400" tIns="25400" bIns="25400">
            <a:spAutoFit/>
          </a:bodyPr>
          <a:lstStyle/>
          <a:p>
            <a:pPr algn="r">
              <a:lnSpc>
                <a:spcPct val="105000"/>
              </a:lnSpc>
              <a:spcBef>
                <a:spcPts val="0"/>
              </a:spcBef>
              <a:spcAft>
                <a:spcPts val="600"/>
              </a:spcAft>
            </a:pPr>
            <a:r>
              <a:rPr sz="1000" b="1" i="0">
                <a:solidFill>
                  <a:srgbClr val="5C676B"/>
                </a:solidFill>
                <a:latin typeface="Calibri"/>
              </a:rPr>
              <a:t>4</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EF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1F4D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02920" y="292608"/>
            <a:ext cx="109728" cy="566928"/>
          </a:xfrm>
          <a:prstGeom prst="rect">
            <a:avLst/>
          </a:prstGeom>
          <a:solidFill>
            <a:srgbClr val="3C8C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164592"/>
            <a:ext cx="10789920" cy="365760"/>
          </a:xfrm>
          <a:prstGeom prst="rect">
            <a:avLst/>
          </a:prstGeom>
          <a:noFill/>
        </p:spPr>
        <p:txBody>
          <a:bodyPr wrap="square" anchor="ctr" lIns="25400" rIns="25400" tIns="25400" bIns="25400">
            <a:spAutoFit/>
          </a:bodyPr>
          <a:lstStyle/>
          <a:p>
            <a:pPr algn="l">
              <a:lnSpc>
                <a:spcPct val="105000"/>
              </a:lnSpc>
              <a:spcBef>
                <a:spcPts val="0"/>
              </a:spcBef>
              <a:spcAft>
                <a:spcPts val="600"/>
              </a:spcAft>
            </a:pPr>
            <a:r>
              <a:rPr sz="1300" b="1" i="0">
                <a:solidFill>
                  <a:srgbClr val="BFD9C8"/>
                </a:solidFill>
                <a:latin typeface="Calibri"/>
              </a:rPr>
              <a:t>UNDERSTANDING RESULTS</a:t>
            </a:r>
          </a:p>
        </p:txBody>
      </p:sp>
      <p:sp>
        <p:nvSpPr>
          <p:cNvPr id="6" name="TextBox 5"/>
          <p:cNvSpPr txBox="1"/>
          <p:nvPr/>
        </p:nvSpPr>
        <p:spPr>
          <a:xfrm>
            <a:off x="777240" y="457200"/>
            <a:ext cx="10789920" cy="548640"/>
          </a:xfrm>
          <a:prstGeom prst="rect">
            <a:avLst/>
          </a:prstGeom>
          <a:noFill/>
        </p:spPr>
        <p:txBody>
          <a:bodyPr wrap="square" anchor="ctr" lIns="25400" rIns="25400" tIns="25400" bIns="25400">
            <a:spAutoFit/>
          </a:bodyPr>
          <a:lstStyle/>
          <a:p>
            <a:pPr algn="l">
              <a:lnSpc>
                <a:spcPct val="105000"/>
              </a:lnSpc>
              <a:spcBef>
                <a:spcPts val="0"/>
              </a:spcBef>
              <a:spcAft>
                <a:spcPts val="600"/>
              </a:spcAft>
            </a:pPr>
            <a:r>
              <a:rPr sz="2800" b="1" i="0">
                <a:solidFill>
                  <a:srgbClr val="FFFFFF"/>
                </a:solidFill>
                <a:latin typeface="Calibri"/>
              </a:rPr>
              <a:t>The traffic-light safety check (“Gates”)</a:t>
            </a:r>
          </a:p>
        </p:txBody>
      </p:sp>
      <p:sp>
        <p:nvSpPr>
          <p:cNvPr id="7" name="TextBox 6"/>
          <p:cNvSpPr txBox="1"/>
          <p:nvPr/>
        </p:nvSpPr>
        <p:spPr>
          <a:xfrm>
            <a:off x="777240" y="1371600"/>
            <a:ext cx="10607040" cy="640080"/>
          </a:xfrm>
          <a:prstGeom prst="rect">
            <a:avLst/>
          </a:prstGeom>
          <a:noFill/>
        </p:spPr>
        <p:txBody>
          <a:bodyPr wrap="square" anchor="t" lIns="25400" rIns="25400" tIns="25400" bIns="25400">
            <a:spAutoFit/>
          </a:bodyPr>
          <a:lstStyle/>
          <a:p>
            <a:pPr algn="l">
              <a:lnSpc>
                <a:spcPct val="110000"/>
              </a:lnSpc>
              <a:spcBef>
                <a:spcPts val="0"/>
              </a:spcBef>
              <a:spcAft>
                <a:spcPts val="600"/>
              </a:spcAft>
            </a:pPr>
            <a:r>
              <a:rPr sz="1700" b="0" i="0">
                <a:solidFill>
                  <a:srgbClr val="232A2E"/>
                </a:solidFill>
                <a:latin typeface="Calibri"/>
              </a:rPr>
              <a:t>Before a site reaches you, the Advisor runs quick safety checks — like zoning, distance from your branches, and whether the numbers add up. The result is a simple traffic light.</a:t>
            </a:r>
          </a:p>
        </p:txBody>
      </p:sp>
      <p:sp>
        <p:nvSpPr>
          <p:cNvPr id="8" name="Rounded Rectangle 7"/>
          <p:cNvSpPr/>
          <p:nvPr/>
        </p:nvSpPr>
        <p:spPr>
          <a:xfrm>
            <a:off x="777240" y="2331720"/>
            <a:ext cx="3383280" cy="3291840"/>
          </a:xfrm>
          <a:prstGeom prst="roundRect">
            <a:avLst/>
          </a:prstGeom>
          <a:solidFill>
            <a:srgbClr val="FFFFFF"/>
          </a:solidFill>
          <a:ln w="12700">
            <a:solidFill>
              <a:srgbClr val="E2DD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965960" y="2606040"/>
            <a:ext cx="1005840" cy="1005840"/>
          </a:xfrm>
          <a:prstGeom prst="ellipse">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 y="3794760"/>
            <a:ext cx="3383280" cy="457200"/>
          </a:xfrm>
          <a:prstGeom prst="rect">
            <a:avLst/>
          </a:prstGeom>
          <a:noFill/>
        </p:spPr>
        <p:txBody>
          <a:bodyPr wrap="square" anchor="t" lIns="25400" rIns="25400" tIns="25400" bIns="25400">
            <a:spAutoFit/>
          </a:bodyPr>
          <a:lstStyle/>
          <a:p>
            <a:pPr algn="ctr">
              <a:lnSpc>
                <a:spcPct val="105000"/>
              </a:lnSpc>
              <a:spcBef>
                <a:spcPts val="0"/>
              </a:spcBef>
              <a:spcAft>
                <a:spcPts val="600"/>
              </a:spcAft>
            </a:pPr>
            <a:r>
              <a:rPr sz="2200" b="1" i="0">
                <a:solidFill>
                  <a:srgbClr val="2E8B57"/>
                </a:solidFill>
                <a:latin typeface="Calibri"/>
              </a:rPr>
              <a:t>PASS</a:t>
            </a:r>
          </a:p>
        </p:txBody>
      </p:sp>
      <p:sp>
        <p:nvSpPr>
          <p:cNvPr id="11" name="TextBox 10"/>
          <p:cNvSpPr txBox="1"/>
          <p:nvPr/>
        </p:nvSpPr>
        <p:spPr>
          <a:xfrm>
            <a:off x="777240" y="4251960"/>
            <a:ext cx="3383280" cy="365760"/>
          </a:xfrm>
          <a:prstGeom prst="rect">
            <a:avLst/>
          </a:prstGeom>
          <a:noFill/>
        </p:spPr>
        <p:txBody>
          <a:bodyPr wrap="square" anchor="t" lIns="25400" rIns="25400" tIns="25400" bIns="25400">
            <a:spAutoFit/>
          </a:bodyPr>
          <a:lstStyle/>
          <a:p>
            <a:pPr algn="ctr">
              <a:lnSpc>
                <a:spcPct val="105000"/>
              </a:lnSpc>
              <a:spcBef>
                <a:spcPts val="0"/>
              </a:spcBef>
              <a:spcAft>
                <a:spcPts val="600"/>
              </a:spcAft>
            </a:pPr>
            <a:r>
              <a:rPr sz="1400" b="1" i="0">
                <a:solidFill>
                  <a:srgbClr val="232A2E"/>
                </a:solidFill>
                <a:latin typeface="Calibri"/>
              </a:rPr>
              <a:t>All checks cleared.</a:t>
            </a:r>
          </a:p>
        </p:txBody>
      </p:sp>
      <p:sp>
        <p:nvSpPr>
          <p:cNvPr id="12" name="TextBox 11"/>
          <p:cNvSpPr txBox="1"/>
          <p:nvPr/>
        </p:nvSpPr>
        <p:spPr>
          <a:xfrm>
            <a:off x="1051560" y="4663440"/>
            <a:ext cx="2834640" cy="914400"/>
          </a:xfrm>
          <a:prstGeom prst="rect">
            <a:avLst/>
          </a:prstGeom>
          <a:noFill/>
        </p:spPr>
        <p:txBody>
          <a:bodyPr wrap="square" anchor="t" lIns="25400" rIns="25400" tIns="25400" bIns="25400">
            <a:spAutoFit/>
          </a:bodyPr>
          <a:lstStyle/>
          <a:p>
            <a:pPr algn="ctr">
              <a:lnSpc>
                <a:spcPct val="100000"/>
              </a:lnSpc>
              <a:spcBef>
                <a:spcPts val="0"/>
              </a:spcBef>
              <a:spcAft>
                <a:spcPts val="200"/>
              </a:spcAft>
            </a:pPr>
            <a:r>
              <a:rPr sz="1300" b="0" i="0">
                <a:solidFill>
                  <a:srgbClr val="5C676B"/>
                </a:solidFill>
                <a:latin typeface="Calibri"/>
              </a:rPr>
              <a:t>A low-risk site.</a:t>
            </a:r>
          </a:p>
          <a:p>
            <a:pPr algn="ctr">
              <a:lnSpc>
                <a:spcPct val="100000"/>
              </a:lnSpc>
              <a:spcBef>
                <a:spcPts val="0"/>
              </a:spcBef>
              <a:spcAft>
                <a:spcPts val="200"/>
              </a:spcAft>
            </a:pPr>
            <a:r>
              <a:rPr sz="1300" b="0" i="0">
                <a:solidFill>
                  <a:srgbClr val="5C676B"/>
                </a:solidFill>
                <a:latin typeface="Calibri"/>
              </a:rPr>
              <a:t>Safe to shortlist and</a:t>
            </a:r>
          </a:p>
          <a:p>
            <a:pPr algn="ctr">
              <a:lnSpc>
                <a:spcPct val="100000"/>
              </a:lnSpc>
              <a:spcBef>
                <a:spcPts val="0"/>
              </a:spcBef>
              <a:spcAft>
                <a:spcPts val="200"/>
              </a:spcAft>
            </a:pPr>
            <a:r>
              <a:rPr sz="1300" b="0" i="0">
                <a:solidFill>
                  <a:srgbClr val="5C676B"/>
                </a:solidFill>
                <a:latin typeface="Calibri"/>
              </a:rPr>
              <a:t>visit in person.</a:t>
            </a:r>
          </a:p>
        </p:txBody>
      </p:sp>
      <p:sp>
        <p:nvSpPr>
          <p:cNvPr id="13" name="Rounded Rectangle 12"/>
          <p:cNvSpPr/>
          <p:nvPr/>
        </p:nvSpPr>
        <p:spPr>
          <a:xfrm>
            <a:off x="4389120" y="2331720"/>
            <a:ext cx="3383280" cy="3291840"/>
          </a:xfrm>
          <a:prstGeom prst="roundRect">
            <a:avLst/>
          </a:prstGeom>
          <a:solidFill>
            <a:srgbClr val="FFFFFF"/>
          </a:solidFill>
          <a:ln w="12700">
            <a:solidFill>
              <a:srgbClr val="E2DD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5577840" y="2606040"/>
            <a:ext cx="1005840" cy="1005840"/>
          </a:xfrm>
          <a:prstGeom prst="ellipse">
            <a:avLst/>
          </a:prstGeom>
          <a:solidFill>
            <a:srgbClr val="C88A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389120" y="3794760"/>
            <a:ext cx="3383280" cy="457200"/>
          </a:xfrm>
          <a:prstGeom prst="rect">
            <a:avLst/>
          </a:prstGeom>
          <a:noFill/>
        </p:spPr>
        <p:txBody>
          <a:bodyPr wrap="square" anchor="t" lIns="25400" rIns="25400" tIns="25400" bIns="25400">
            <a:spAutoFit/>
          </a:bodyPr>
          <a:lstStyle/>
          <a:p>
            <a:pPr algn="ctr">
              <a:lnSpc>
                <a:spcPct val="105000"/>
              </a:lnSpc>
              <a:spcBef>
                <a:spcPts val="0"/>
              </a:spcBef>
              <a:spcAft>
                <a:spcPts val="600"/>
              </a:spcAft>
            </a:pPr>
            <a:r>
              <a:rPr sz="2200" b="1" i="0">
                <a:solidFill>
                  <a:srgbClr val="C88A1E"/>
                </a:solidFill>
                <a:latin typeface="Calibri"/>
              </a:rPr>
              <a:t>UNKNOWN</a:t>
            </a:r>
          </a:p>
        </p:txBody>
      </p:sp>
      <p:sp>
        <p:nvSpPr>
          <p:cNvPr id="16" name="TextBox 15"/>
          <p:cNvSpPr txBox="1"/>
          <p:nvPr/>
        </p:nvSpPr>
        <p:spPr>
          <a:xfrm>
            <a:off x="4389120" y="4251960"/>
            <a:ext cx="3383280" cy="365760"/>
          </a:xfrm>
          <a:prstGeom prst="rect">
            <a:avLst/>
          </a:prstGeom>
          <a:noFill/>
        </p:spPr>
        <p:txBody>
          <a:bodyPr wrap="square" anchor="t" lIns="25400" rIns="25400" tIns="25400" bIns="25400">
            <a:spAutoFit/>
          </a:bodyPr>
          <a:lstStyle/>
          <a:p>
            <a:pPr algn="ctr">
              <a:lnSpc>
                <a:spcPct val="105000"/>
              </a:lnSpc>
              <a:spcBef>
                <a:spcPts val="0"/>
              </a:spcBef>
              <a:spcAft>
                <a:spcPts val="600"/>
              </a:spcAft>
            </a:pPr>
            <a:r>
              <a:rPr sz="1400" b="1" i="0">
                <a:solidFill>
                  <a:srgbClr val="232A2E"/>
                </a:solidFill>
                <a:latin typeface="Calibri"/>
              </a:rPr>
              <a:t>Some data is missing.</a:t>
            </a:r>
          </a:p>
        </p:txBody>
      </p:sp>
      <p:sp>
        <p:nvSpPr>
          <p:cNvPr id="17" name="TextBox 16"/>
          <p:cNvSpPr txBox="1"/>
          <p:nvPr/>
        </p:nvSpPr>
        <p:spPr>
          <a:xfrm>
            <a:off x="4663440" y="4663440"/>
            <a:ext cx="2834640" cy="914400"/>
          </a:xfrm>
          <a:prstGeom prst="rect">
            <a:avLst/>
          </a:prstGeom>
          <a:noFill/>
        </p:spPr>
        <p:txBody>
          <a:bodyPr wrap="square" anchor="t" lIns="25400" rIns="25400" tIns="25400" bIns="25400">
            <a:spAutoFit/>
          </a:bodyPr>
          <a:lstStyle/>
          <a:p>
            <a:pPr algn="ctr">
              <a:lnSpc>
                <a:spcPct val="100000"/>
              </a:lnSpc>
              <a:spcBef>
                <a:spcPts val="0"/>
              </a:spcBef>
              <a:spcAft>
                <a:spcPts val="200"/>
              </a:spcAft>
            </a:pPr>
            <a:r>
              <a:rPr sz="1300" b="0" i="0">
                <a:solidFill>
                  <a:srgbClr val="5C676B"/>
                </a:solidFill>
                <a:latin typeface="Calibri"/>
              </a:rPr>
              <a:t>No blocking problems,</a:t>
            </a:r>
          </a:p>
          <a:p>
            <a:pPr algn="ctr">
              <a:lnSpc>
                <a:spcPct val="100000"/>
              </a:lnSpc>
              <a:spcBef>
                <a:spcPts val="0"/>
              </a:spcBef>
              <a:spcAft>
                <a:spcPts val="200"/>
              </a:spcAft>
            </a:pPr>
            <a:r>
              <a:rPr sz="1300" b="0" i="0">
                <a:solidFill>
                  <a:srgbClr val="5C676B"/>
                </a:solidFill>
                <a:latin typeface="Calibri"/>
              </a:rPr>
              <a:t>but do your own checks</a:t>
            </a:r>
          </a:p>
          <a:p>
            <a:pPr algn="ctr">
              <a:lnSpc>
                <a:spcPct val="100000"/>
              </a:lnSpc>
              <a:spcBef>
                <a:spcPts val="0"/>
              </a:spcBef>
              <a:spcAft>
                <a:spcPts val="200"/>
              </a:spcAft>
            </a:pPr>
            <a:r>
              <a:rPr sz="1300" b="0" i="0">
                <a:solidFill>
                  <a:srgbClr val="5C676B"/>
                </a:solidFill>
                <a:latin typeface="Calibri"/>
              </a:rPr>
              <a:t>before committing.</a:t>
            </a:r>
          </a:p>
        </p:txBody>
      </p:sp>
      <p:sp>
        <p:nvSpPr>
          <p:cNvPr id="18" name="Rounded Rectangle 17"/>
          <p:cNvSpPr/>
          <p:nvPr/>
        </p:nvSpPr>
        <p:spPr>
          <a:xfrm>
            <a:off x="8001000" y="2331720"/>
            <a:ext cx="3383280" cy="3291840"/>
          </a:xfrm>
          <a:prstGeom prst="roundRect">
            <a:avLst/>
          </a:prstGeom>
          <a:solidFill>
            <a:srgbClr val="FFFFFF"/>
          </a:solidFill>
          <a:ln w="12700">
            <a:solidFill>
              <a:srgbClr val="E2DD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189720" y="2606040"/>
            <a:ext cx="1005840" cy="1005840"/>
          </a:xfrm>
          <a:prstGeom prst="ellipse">
            <a:avLst/>
          </a:prstGeom>
          <a:solidFill>
            <a:srgbClr val="B33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001000" y="3794760"/>
            <a:ext cx="3383280" cy="457200"/>
          </a:xfrm>
          <a:prstGeom prst="rect">
            <a:avLst/>
          </a:prstGeom>
          <a:noFill/>
        </p:spPr>
        <p:txBody>
          <a:bodyPr wrap="square" anchor="t" lIns="25400" rIns="25400" tIns="25400" bIns="25400">
            <a:spAutoFit/>
          </a:bodyPr>
          <a:lstStyle/>
          <a:p>
            <a:pPr algn="ctr">
              <a:lnSpc>
                <a:spcPct val="105000"/>
              </a:lnSpc>
              <a:spcBef>
                <a:spcPts val="0"/>
              </a:spcBef>
              <a:spcAft>
                <a:spcPts val="600"/>
              </a:spcAft>
            </a:pPr>
            <a:r>
              <a:rPr sz="2200" b="1" i="0">
                <a:solidFill>
                  <a:srgbClr val="B33A3A"/>
                </a:solidFill>
                <a:latin typeface="Calibri"/>
              </a:rPr>
              <a:t>FAIL</a:t>
            </a:r>
          </a:p>
        </p:txBody>
      </p:sp>
      <p:sp>
        <p:nvSpPr>
          <p:cNvPr id="21" name="TextBox 20"/>
          <p:cNvSpPr txBox="1"/>
          <p:nvPr/>
        </p:nvSpPr>
        <p:spPr>
          <a:xfrm>
            <a:off x="8001000" y="4251960"/>
            <a:ext cx="3383280" cy="365760"/>
          </a:xfrm>
          <a:prstGeom prst="rect">
            <a:avLst/>
          </a:prstGeom>
          <a:noFill/>
        </p:spPr>
        <p:txBody>
          <a:bodyPr wrap="square" anchor="t" lIns="25400" rIns="25400" tIns="25400" bIns="25400">
            <a:spAutoFit/>
          </a:bodyPr>
          <a:lstStyle/>
          <a:p>
            <a:pPr algn="ctr">
              <a:lnSpc>
                <a:spcPct val="105000"/>
              </a:lnSpc>
              <a:spcBef>
                <a:spcPts val="0"/>
              </a:spcBef>
              <a:spcAft>
                <a:spcPts val="600"/>
              </a:spcAft>
            </a:pPr>
            <a:r>
              <a:rPr sz="1400" b="1" i="0">
                <a:solidFill>
                  <a:srgbClr val="232A2E"/>
                </a:solidFill>
                <a:latin typeface="Calibri"/>
              </a:rPr>
              <a:t>A key check failed.</a:t>
            </a:r>
          </a:p>
        </p:txBody>
      </p:sp>
      <p:sp>
        <p:nvSpPr>
          <p:cNvPr id="22" name="TextBox 21"/>
          <p:cNvSpPr txBox="1"/>
          <p:nvPr/>
        </p:nvSpPr>
        <p:spPr>
          <a:xfrm>
            <a:off x="8275320" y="4663440"/>
            <a:ext cx="2834640" cy="914400"/>
          </a:xfrm>
          <a:prstGeom prst="rect">
            <a:avLst/>
          </a:prstGeom>
          <a:noFill/>
        </p:spPr>
        <p:txBody>
          <a:bodyPr wrap="square" anchor="t" lIns="25400" rIns="25400" tIns="25400" bIns="25400">
            <a:spAutoFit/>
          </a:bodyPr>
          <a:lstStyle/>
          <a:p>
            <a:pPr algn="ctr">
              <a:lnSpc>
                <a:spcPct val="100000"/>
              </a:lnSpc>
              <a:spcBef>
                <a:spcPts val="0"/>
              </a:spcBef>
              <a:spcAft>
                <a:spcPts val="200"/>
              </a:spcAft>
            </a:pPr>
            <a:r>
              <a:rPr sz="1300" b="0" i="0">
                <a:solidFill>
                  <a:srgbClr val="5C676B"/>
                </a:solidFill>
                <a:latin typeface="Calibri"/>
              </a:rPr>
              <a:t>For example: wrong zoning,</a:t>
            </a:r>
          </a:p>
          <a:p>
            <a:pPr algn="ctr">
              <a:lnSpc>
                <a:spcPct val="100000"/>
              </a:lnSpc>
              <a:spcBef>
                <a:spcPts val="0"/>
              </a:spcBef>
              <a:spcAft>
                <a:spcPts val="200"/>
              </a:spcAft>
            </a:pPr>
            <a:r>
              <a:rPr sz="1300" b="0" i="0">
                <a:solidFill>
                  <a:srgbClr val="5C676B"/>
                </a:solidFill>
                <a:latin typeface="Calibri"/>
              </a:rPr>
              <a:t>or too close to a branch</a:t>
            </a:r>
          </a:p>
          <a:p>
            <a:pPr algn="ctr">
              <a:lnSpc>
                <a:spcPct val="100000"/>
              </a:lnSpc>
              <a:spcBef>
                <a:spcPts val="0"/>
              </a:spcBef>
              <a:spcAft>
                <a:spcPts val="200"/>
              </a:spcAft>
            </a:pPr>
            <a:r>
              <a:rPr sz="1300" b="0" i="0">
                <a:solidFill>
                  <a:srgbClr val="5C676B"/>
                </a:solidFill>
                <a:latin typeface="Calibri"/>
              </a:rPr>
              <a:t>you already run.</a:t>
            </a:r>
          </a:p>
        </p:txBody>
      </p:sp>
      <p:sp>
        <p:nvSpPr>
          <p:cNvPr id="23" name="TextBox 22"/>
          <p:cNvSpPr txBox="1"/>
          <p:nvPr/>
        </p:nvSpPr>
        <p:spPr>
          <a:xfrm>
            <a:off x="502920" y="6419088"/>
            <a:ext cx="7315200" cy="320040"/>
          </a:xfrm>
          <a:prstGeom prst="rect">
            <a:avLst/>
          </a:prstGeom>
          <a:noFill/>
        </p:spPr>
        <p:txBody>
          <a:bodyPr wrap="square" anchor="t" lIns="25400" rIns="25400" tIns="25400" bIns="25400">
            <a:spAutoFit/>
          </a:bodyPr>
          <a:lstStyle/>
          <a:p>
            <a:pPr algn="l">
              <a:lnSpc>
                <a:spcPct val="105000"/>
              </a:lnSpc>
              <a:spcBef>
                <a:spcPts val="0"/>
              </a:spcBef>
              <a:spcAft>
                <a:spcPts val="600"/>
              </a:spcAft>
            </a:pPr>
            <a:r>
              <a:rPr sz="1000" b="0" i="0">
                <a:solidFill>
                  <a:srgbClr val="5C676B"/>
                </a:solidFill>
                <a:latin typeface="Calibri"/>
              </a:rPr>
              <a:t>Oaktree Atlas  ·  Expansion Advisor User Guide</a:t>
            </a:r>
          </a:p>
        </p:txBody>
      </p:sp>
      <p:sp>
        <p:nvSpPr>
          <p:cNvPr id="24" name="TextBox 23"/>
          <p:cNvSpPr txBox="1"/>
          <p:nvPr/>
        </p:nvSpPr>
        <p:spPr>
          <a:xfrm>
            <a:off x="10058400" y="6419088"/>
            <a:ext cx="1645920" cy="320040"/>
          </a:xfrm>
          <a:prstGeom prst="rect">
            <a:avLst/>
          </a:prstGeom>
          <a:noFill/>
        </p:spPr>
        <p:txBody>
          <a:bodyPr wrap="square" anchor="t" lIns="25400" rIns="25400" tIns="25400" bIns="25400">
            <a:spAutoFit/>
          </a:bodyPr>
          <a:lstStyle/>
          <a:p>
            <a:pPr algn="r">
              <a:lnSpc>
                <a:spcPct val="105000"/>
              </a:lnSpc>
              <a:spcBef>
                <a:spcPts val="0"/>
              </a:spcBef>
              <a:spcAft>
                <a:spcPts val="600"/>
              </a:spcAft>
            </a:pPr>
            <a:r>
              <a:rPr sz="1000" b="1" i="0">
                <a:solidFill>
                  <a:srgbClr val="5C676B"/>
                </a:solidFill>
                <a:latin typeface="Calibri"/>
              </a:rPr>
              <a:t>5</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1F4D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02920" y="292608"/>
            <a:ext cx="109728" cy="566928"/>
          </a:xfrm>
          <a:prstGeom prst="rect">
            <a:avLst/>
          </a:prstGeom>
          <a:solidFill>
            <a:srgbClr val="3C8C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164592"/>
            <a:ext cx="10789920" cy="365760"/>
          </a:xfrm>
          <a:prstGeom prst="rect">
            <a:avLst/>
          </a:prstGeom>
          <a:noFill/>
        </p:spPr>
        <p:txBody>
          <a:bodyPr wrap="square" anchor="ctr" lIns="25400" rIns="25400" tIns="25400" bIns="25400">
            <a:spAutoFit/>
          </a:bodyPr>
          <a:lstStyle/>
          <a:p>
            <a:pPr algn="l">
              <a:lnSpc>
                <a:spcPct val="105000"/>
              </a:lnSpc>
              <a:spcBef>
                <a:spcPts val="0"/>
              </a:spcBef>
              <a:spcAft>
                <a:spcPts val="600"/>
              </a:spcAft>
            </a:pPr>
            <a:r>
              <a:rPr sz="1300" b="1" i="0">
                <a:solidFill>
                  <a:srgbClr val="BFD9C8"/>
                </a:solidFill>
                <a:latin typeface="Calibri"/>
              </a:rPr>
              <a:t>STEP 3 · GO DEEPER</a:t>
            </a:r>
          </a:p>
        </p:txBody>
      </p:sp>
      <p:sp>
        <p:nvSpPr>
          <p:cNvPr id="6" name="TextBox 5"/>
          <p:cNvSpPr txBox="1"/>
          <p:nvPr/>
        </p:nvSpPr>
        <p:spPr>
          <a:xfrm>
            <a:off x="777240" y="457200"/>
            <a:ext cx="10789920" cy="548640"/>
          </a:xfrm>
          <a:prstGeom prst="rect">
            <a:avLst/>
          </a:prstGeom>
          <a:noFill/>
        </p:spPr>
        <p:txBody>
          <a:bodyPr wrap="square" anchor="ctr" lIns="25400" rIns="25400" tIns="25400" bIns="25400">
            <a:spAutoFit/>
          </a:bodyPr>
          <a:lstStyle/>
          <a:p>
            <a:pPr algn="l">
              <a:lnSpc>
                <a:spcPct val="105000"/>
              </a:lnSpc>
              <a:spcBef>
                <a:spcPts val="0"/>
              </a:spcBef>
              <a:spcAft>
                <a:spcPts val="600"/>
              </a:spcAft>
            </a:pPr>
            <a:r>
              <a:rPr sz="2800" b="1" i="0">
                <a:solidFill>
                  <a:srgbClr val="FFFFFF"/>
                </a:solidFill>
                <a:latin typeface="Calibri"/>
              </a:rPr>
              <a:t>Open a site to see the full story</a:t>
            </a:r>
          </a:p>
        </p:txBody>
      </p:sp>
      <p:sp>
        <p:nvSpPr>
          <p:cNvPr id="7" name="TextBox 6"/>
          <p:cNvSpPr txBox="1"/>
          <p:nvPr/>
        </p:nvSpPr>
        <p:spPr>
          <a:xfrm>
            <a:off x="777240" y="1371600"/>
            <a:ext cx="5486400" cy="457200"/>
          </a:xfrm>
          <a:prstGeom prst="rect">
            <a:avLst/>
          </a:prstGeom>
          <a:noFill/>
        </p:spPr>
        <p:txBody>
          <a:bodyPr wrap="square" anchor="t" lIns="25400" rIns="25400" tIns="25400" bIns="25400">
            <a:spAutoFit/>
          </a:bodyPr>
          <a:lstStyle/>
          <a:p>
            <a:pPr algn="l">
              <a:lnSpc>
                <a:spcPct val="105000"/>
              </a:lnSpc>
              <a:spcBef>
                <a:spcPts val="0"/>
              </a:spcBef>
              <a:spcAft>
                <a:spcPts val="600"/>
              </a:spcAft>
            </a:pPr>
            <a:r>
              <a:rPr sz="1700" b="1" i="0">
                <a:solidFill>
                  <a:srgbClr val="232A2E"/>
                </a:solidFill>
                <a:latin typeface="Calibri"/>
              </a:rPr>
              <a:t>Tap any card and the detail panel opens:</a:t>
            </a:r>
          </a:p>
        </p:txBody>
      </p:sp>
      <p:sp>
        <p:nvSpPr>
          <p:cNvPr id="8" name="Rounded Rectangle 7"/>
          <p:cNvSpPr/>
          <p:nvPr/>
        </p:nvSpPr>
        <p:spPr>
          <a:xfrm>
            <a:off x="777240" y="1920240"/>
            <a:ext cx="5394960" cy="749808"/>
          </a:xfrm>
          <a:prstGeom prst="roundRect">
            <a:avLst/>
          </a:prstGeom>
          <a:solidFill>
            <a:srgbClr val="F4EF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777240" y="1920240"/>
            <a:ext cx="91440" cy="749808"/>
          </a:xfrm>
          <a:prstGeom prst="roundRect">
            <a:avLst/>
          </a:prstGeom>
          <a:solidFill>
            <a:srgbClr val="3C8C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05840" y="1956816"/>
            <a:ext cx="5029200" cy="694944"/>
          </a:xfrm>
          <a:prstGeom prst="rect">
            <a:avLst/>
          </a:prstGeom>
          <a:noFill/>
        </p:spPr>
        <p:txBody>
          <a:bodyPr wrap="square" anchor="ctr" lIns="25400" rIns="25400" tIns="25400" bIns="25400">
            <a:spAutoFit/>
          </a:bodyPr>
          <a:lstStyle/>
          <a:p>
            <a:pPr algn="l">
              <a:lnSpc>
                <a:spcPct val="95000"/>
              </a:lnSpc>
              <a:spcBef>
                <a:spcPts val="0"/>
              </a:spcBef>
              <a:spcAft>
                <a:spcPts val="600"/>
              </a:spcAft>
            </a:pPr>
            <a:r>
              <a:rPr sz="1500" b="1" i="0">
                <a:solidFill>
                  <a:srgbClr val="1F4D3E"/>
                </a:solidFill>
                <a:latin typeface="Calibri"/>
              </a:rPr>
              <a:t>Demand thesis  </a:t>
            </a:r>
            <a:r>
              <a:rPr sz="1300" b="0" i="0">
                <a:solidFill>
                  <a:srgbClr val="5C676B"/>
                </a:solidFill>
                <a:latin typeface="Calibri"/>
              </a:rPr>
              <a:t>Why customers are here — people nearby and competitor presence.</a:t>
            </a:r>
          </a:p>
        </p:txBody>
      </p:sp>
      <p:sp>
        <p:nvSpPr>
          <p:cNvPr id="11" name="Rounded Rectangle 10"/>
          <p:cNvSpPr/>
          <p:nvPr/>
        </p:nvSpPr>
        <p:spPr>
          <a:xfrm>
            <a:off x="777240" y="2743200"/>
            <a:ext cx="5394960" cy="749808"/>
          </a:xfrm>
          <a:prstGeom prst="roundRect">
            <a:avLst/>
          </a:prstGeom>
          <a:solidFill>
            <a:srgbClr val="F4EF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777240" y="2743200"/>
            <a:ext cx="91440" cy="749808"/>
          </a:xfrm>
          <a:prstGeom prst="roundRect">
            <a:avLst/>
          </a:prstGeom>
          <a:solidFill>
            <a:srgbClr val="3C8C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05840" y="2779776"/>
            <a:ext cx="5029200" cy="694944"/>
          </a:xfrm>
          <a:prstGeom prst="rect">
            <a:avLst/>
          </a:prstGeom>
          <a:noFill/>
        </p:spPr>
        <p:txBody>
          <a:bodyPr wrap="square" anchor="ctr" lIns="25400" rIns="25400" tIns="25400" bIns="25400">
            <a:spAutoFit/>
          </a:bodyPr>
          <a:lstStyle/>
          <a:p>
            <a:pPr algn="l">
              <a:lnSpc>
                <a:spcPct val="95000"/>
              </a:lnSpc>
              <a:spcBef>
                <a:spcPts val="0"/>
              </a:spcBef>
              <a:spcAft>
                <a:spcPts val="600"/>
              </a:spcAft>
            </a:pPr>
            <a:r>
              <a:rPr sz="1500" b="1" i="0">
                <a:solidFill>
                  <a:srgbClr val="1F4D3E"/>
                </a:solidFill>
                <a:latin typeface="Calibri"/>
              </a:rPr>
              <a:t>Cost thesis  </a:t>
            </a:r>
            <a:r>
              <a:rPr sz="1300" b="0" i="0">
                <a:solidFill>
                  <a:srgbClr val="5C676B"/>
                </a:solidFill>
                <a:latin typeface="Calibri"/>
              </a:rPr>
              <a:t>Likely rent and fit-out costs, and how they compare to similar sites.</a:t>
            </a:r>
          </a:p>
        </p:txBody>
      </p:sp>
      <p:sp>
        <p:nvSpPr>
          <p:cNvPr id="14" name="Rounded Rectangle 13"/>
          <p:cNvSpPr/>
          <p:nvPr/>
        </p:nvSpPr>
        <p:spPr>
          <a:xfrm>
            <a:off x="777240" y="3566160"/>
            <a:ext cx="5394960" cy="749808"/>
          </a:xfrm>
          <a:prstGeom prst="roundRect">
            <a:avLst/>
          </a:prstGeom>
          <a:solidFill>
            <a:srgbClr val="F4EF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777240" y="3566160"/>
            <a:ext cx="91440" cy="749808"/>
          </a:xfrm>
          <a:prstGeom prst="roundRect">
            <a:avLst/>
          </a:prstGeom>
          <a:solidFill>
            <a:srgbClr val="3C8C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05840" y="3602736"/>
            <a:ext cx="5029200" cy="694944"/>
          </a:xfrm>
          <a:prstGeom prst="rect">
            <a:avLst/>
          </a:prstGeom>
          <a:noFill/>
        </p:spPr>
        <p:txBody>
          <a:bodyPr wrap="square" anchor="ctr" lIns="25400" rIns="25400" tIns="25400" bIns="25400">
            <a:spAutoFit/>
          </a:bodyPr>
          <a:lstStyle/>
          <a:p>
            <a:pPr algn="l">
              <a:lnSpc>
                <a:spcPct val="95000"/>
              </a:lnSpc>
              <a:spcBef>
                <a:spcPts val="0"/>
              </a:spcBef>
              <a:spcAft>
                <a:spcPts val="600"/>
              </a:spcAft>
            </a:pPr>
            <a:r>
              <a:rPr sz="1500" b="1" i="0">
                <a:solidFill>
                  <a:srgbClr val="1F4D3E"/>
                </a:solidFill>
                <a:latin typeface="Calibri"/>
              </a:rPr>
              <a:t>Score breakdown  </a:t>
            </a:r>
            <a:r>
              <a:rPr sz="1300" b="0" i="0">
                <a:solidFill>
                  <a:srgbClr val="5C676B"/>
                </a:solidFill>
                <a:latin typeface="Calibri"/>
              </a:rPr>
              <a:t>How the score is built from demand, competition, fit and economics.</a:t>
            </a:r>
          </a:p>
        </p:txBody>
      </p:sp>
      <p:sp>
        <p:nvSpPr>
          <p:cNvPr id="17" name="Rounded Rectangle 16"/>
          <p:cNvSpPr/>
          <p:nvPr/>
        </p:nvSpPr>
        <p:spPr>
          <a:xfrm>
            <a:off x="777240" y="4389120"/>
            <a:ext cx="5394960" cy="749808"/>
          </a:xfrm>
          <a:prstGeom prst="roundRect">
            <a:avLst/>
          </a:prstGeom>
          <a:solidFill>
            <a:srgbClr val="F4EF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777240" y="4389120"/>
            <a:ext cx="91440" cy="749808"/>
          </a:xfrm>
          <a:prstGeom prst="roundRect">
            <a:avLst/>
          </a:prstGeom>
          <a:solidFill>
            <a:srgbClr val="3C8C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05840" y="4425696"/>
            <a:ext cx="5029200" cy="694944"/>
          </a:xfrm>
          <a:prstGeom prst="rect">
            <a:avLst/>
          </a:prstGeom>
          <a:noFill/>
        </p:spPr>
        <p:txBody>
          <a:bodyPr wrap="square" anchor="ctr" lIns="25400" rIns="25400" tIns="25400" bIns="25400">
            <a:spAutoFit/>
          </a:bodyPr>
          <a:lstStyle/>
          <a:p>
            <a:pPr algn="l">
              <a:lnSpc>
                <a:spcPct val="95000"/>
              </a:lnSpc>
              <a:spcBef>
                <a:spcPts val="0"/>
              </a:spcBef>
              <a:spcAft>
                <a:spcPts val="600"/>
              </a:spcAft>
            </a:pPr>
            <a:r>
              <a:rPr sz="1500" b="1" i="0">
                <a:solidFill>
                  <a:srgbClr val="1F4D3E"/>
                </a:solidFill>
                <a:latin typeface="Calibri"/>
              </a:rPr>
              <a:t>Top positives &amp; risks  </a:t>
            </a:r>
            <a:r>
              <a:rPr sz="1300" b="0" i="0">
                <a:solidFill>
                  <a:srgbClr val="5C676B"/>
                </a:solidFill>
                <a:latin typeface="Calibri"/>
              </a:rPr>
              <a:t>The 2–3 best reasons to go — and the main things to watch.</a:t>
            </a:r>
          </a:p>
        </p:txBody>
      </p:sp>
      <p:sp>
        <p:nvSpPr>
          <p:cNvPr id="20" name="Rounded Rectangle 19"/>
          <p:cNvSpPr/>
          <p:nvPr/>
        </p:nvSpPr>
        <p:spPr>
          <a:xfrm>
            <a:off x="777240" y="5212080"/>
            <a:ext cx="5394960" cy="749808"/>
          </a:xfrm>
          <a:prstGeom prst="roundRect">
            <a:avLst/>
          </a:prstGeom>
          <a:solidFill>
            <a:srgbClr val="F4EF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777240" y="5212080"/>
            <a:ext cx="91440" cy="749808"/>
          </a:xfrm>
          <a:prstGeom prst="roundRect">
            <a:avLst/>
          </a:prstGeom>
          <a:solidFill>
            <a:srgbClr val="3C8C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005840" y="5248656"/>
            <a:ext cx="5029200" cy="694944"/>
          </a:xfrm>
          <a:prstGeom prst="rect">
            <a:avLst/>
          </a:prstGeom>
          <a:noFill/>
        </p:spPr>
        <p:txBody>
          <a:bodyPr wrap="square" anchor="ctr" lIns="25400" rIns="25400" tIns="25400" bIns="25400">
            <a:spAutoFit/>
          </a:bodyPr>
          <a:lstStyle/>
          <a:p>
            <a:pPr algn="l">
              <a:lnSpc>
                <a:spcPct val="95000"/>
              </a:lnSpc>
              <a:spcBef>
                <a:spcPts val="0"/>
              </a:spcBef>
              <a:spcAft>
                <a:spcPts val="600"/>
              </a:spcAft>
            </a:pPr>
            <a:r>
              <a:rPr sz="1500" b="1" i="0">
                <a:solidFill>
                  <a:srgbClr val="1F4D3E"/>
                </a:solidFill>
                <a:latin typeface="Calibri"/>
              </a:rPr>
              <a:t>Comparable competitors  </a:t>
            </a:r>
            <a:r>
              <a:rPr sz="1300" b="0" i="0">
                <a:solidFill>
                  <a:srgbClr val="5C676B"/>
                </a:solidFill>
                <a:latin typeface="Calibri"/>
              </a:rPr>
              <a:t>Nearby restaurants in your category, with their ratings.</a:t>
            </a:r>
          </a:p>
        </p:txBody>
      </p:sp>
      <p:sp>
        <p:nvSpPr>
          <p:cNvPr id="23" name="Rounded Rectangle 22"/>
          <p:cNvSpPr/>
          <p:nvPr/>
        </p:nvSpPr>
        <p:spPr>
          <a:xfrm>
            <a:off x="6492240" y="1920240"/>
            <a:ext cx="4892040" cy="4114800"/>
          </a:xfrm>
          <a:prstGeom prst="roundRect">
            <a:avLst/>
          </a:prstGeom>
          <a:solidFill>
            <a:srgbClr val="1F4D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812280" y="2103120"/>
            <a:ext cx="4297680" cy="548640"/>
          </a:xfrm>
          <a:prstGeom prst="rect">
            <a:avLst/>
          </a:prstGeom>
          <a:noFill/>
        </p:spPr>
        <p:txBody>
          <a:bodyPr wrap="square" anchor="t" lIns="25400" rIns="25400" tIns="25400" bIns="25400">
            <a:spAutoFit/>
          </a:bodyPr>
          <a:lstStyle/>
          <a:p>
            <a:pPr algn="l">
              <a:lnSpc>
                <a:spcPct val="105000"/>
              </a:lnSpc>
              <a:spcBef>
                <a:spcPts val="0"/>
              </a:spcBef>
              <a:spcAft>
                <a:spcPts val="600"/>
              </a:spcAft>
            </a:pPr>
            <a:r>
              <a:rPr sz="1900" b="1" i="0">
                <a:solidFill>
                  <a:srgbClr val="FFFFFF"/>
                </a:solidFill>
                <a:latin typeface="Calibri"/>
              </a:rPr>
              <a:t>“View Decision Memo”</a:t>
            </a:r>
          </a:p>
        </p:txBody>
      </p:sp>
      <p:sp>
        <p:nvSpPr>
          <p:cNvPr id="25" name="TextBox 24"/>
          <p:cNvSpPr txBox="1"/>
          <p:nvPr/>
        </p:nvSpPr>
        <p:spPr>
          <a:xfrm>
            <a:off x="6812280" y="2651760"/>
            <a:ext cx="4297680" cy="3200400"/>
          </a:xfrm>
          <a:prstGeom prst="rect">
            <a:avLst/>
          </a:prstGeom>
          <a:noFill/>
        </p:spPr>
        <p:txBody>
          <a:bodyPr wrap="square" anchor="t" lIns="25400" rIns="25400" tIns="25400" bIns="25400">
            <a:spAutoFit/>
          </a:bodyPr>
          <a:lstStyle/>
          <a:p>
            <a:pPr algn="l">
              <a:lnSpc>
                <a:spcPct val="105000"/>
              </a:lnSpc>
              <a:spcBef>
                <a:spcPts val="0"/>
              </a:spcBef>
              <a:spcAft>
                <a:spcPts val="1000"/>
              </a:spcAft>
            </a:pPr>
            <a:r>
              <a:rPr sz="1400" b="0" i="0">
                <a:solidFill>
                  <a:srgbClr val="CFE3D7"/>
                </a:solidFill>
                <a:latin typeface="Calibri"/>
              </a:rPr>
              <a:t>A short written recommendation, like an analyst wrote it for you:</a:t>
            </a:r>
          </a:p>
          <a:p>
            <a:pPr algn="l">
              <a:lnSpc>
                <a:spcPct val="105000"/>
              </a:lnSpc>
              <a:spcBef>
                <a:spcPts val="0"/>
              </a:spcBef>
              <a:spcAft>
                <a:spcPts val="1000"/>
              </a:spcAft>
            </a:pPr>
            <a:r>
              <a:rPr sz="1400" b="1" i="0">
                <a:solidFill>
                  <a:srgbClr val="FFFFFF"/>
                </a:solidFill>
                <a:latin typeface="Calibri"/>
              </a:rPr>
              <a:t>• Headline verdict  </a:t>
            </a:r>
            <a:r>
              <a:rPr sz="1300" b="0" i="0">
                <a:solidFill>
                  <a:srgbClr val="CFE3D7"/>
                </a:solidFill>
                <a:latin typeface="Calibri"/>
              </a:rPr>
              <a:t>— strong fit / consider carefully</a:t>
            </a:r>
          </a:p>
          <a:p>
            <a:pPr algn="l">
              <a:lnSpc>
                <a:spcPct val="105000"/>
              </a:lnSpc>
              <a:spcBef>
                <a:spcPts val="0"/>
              </a:spcBef>
              <a:spcAft>
                <a:spcPts val="1000"/>
              </a:spcAft>
            </a:pPr>
            <a:r>
              <a:rPr sz="1400" b="1" i="0">
                <a:solidFill>
                  <a:srgbClr val="FFFFFF"/>
                </a:solidFill>
                <a:latin typeface="Calibri"/>
              </a:rPr>
              <a:t>• Key evidence  </a:t>
            </a:r>
            <a:r>
              <a:rPr sz="1300" b="0" i="0">
                <a:solidFill>
                  <a:srgbClr val="CFE3D7"/>
                </a:solidFill>
                <a:latin typeface="Calibri"/>
              </a:rPr>
              <a:t>— the main supporting facts</a:t>
            </a:r>
          </a:p>
          <a:p>
            <a:pPr algn="l">
              <a:lnSpc>
                <a:spcPct val="105000"/>
              </a:lnSpc>
              <a:spcBef>
                <a:spcPts val="0"/>
              </a:spcBef>
              <a:spcAft>
                <a:spcPts val="1000"/>
              </a:spcAft>
            </a:pPr>
            <a:r>
              <a:rPr sz="1400" b="1" i="0">
                <a:solidFill>
                  <a:srgbClr val="FFFFFF"/>
                </a:solidFill>
                <a:latin typeface="Calibri"/>
              </a:rPr>
              <a:t>• Risks  </a:t>
            </a:r>
            <a:r>
              <a:rPr sz="1300" b="0" i="0">
                <a:solidFill>
                  <a:srgbClr val="CFE3D7"/>
                </a:solidFill>
                <a:latin typeface="Calibri"/>
              </a:rPr>
              <a:t>— what to watch out for</a:t>
            </a:r>
          </a:p>
          <a:p>
            <a:pPr algn="l">
              <a:lnSpc>
                <a:spcPct val="105000"/>
              </a:lnSpc>
              <a:spcBef>
                <a:spcPts val="0"/>
              </a:spcBef>
              <a:spcAft>
                <a:spcPts val="1000"/>
              </a:spcAft>
            </a:pPr>
            <a:r>
              <a:rPr sz="1400" b="1" i="0">
                <a:solidFill>
                  <a:srgbClr val="FFFFFF"/>
                </a:solidFill>
                <a:latin typeface="Calibri"/>
              </a:rPr>
              <a:t>• Market research  </a:t>
            </a:r>
            <a:r>
              <a:rPr sz="1300" b="0" i="0">
                <a:solidFill>
                  <a:srgbClr val="CFE3D7"/>
                </a:solidFill>
                <a:latin typeface="Calibri"/>
              </a:rPr>
              <a:t>— delivery &amp; district trends</a:t>
            </a:r>
          </a:p>
          <a:p>
            <a:pPr algn="l">
              <a:lnSpc>
                <a:spcPct val="105000"/>
              </a:lnSpc>
              <a:spcBef>
                <a:spcPts val="0"/>
              </a:spcBef>
              <a:spcAft>
                <a:spcPts val="1000"/>
              </a:spcAft>
            </a:pPr>
            <a:r>
              <a:rPr sz="1400" b="1" i="0">
                <a:solidFill>
                  <a:srgbClr val="FFFFFF"/>
                </a:solidFill>
                <a:latin typeface="Calibri"/>
              </a:rPr>
              <a:t>• Best use case  </a:t>
            </a:r>
            <a:r>
              <a:rPr sz="1300" b="0" i="0">
                <a:solidFill>
                  <a:srgbClr val="CFE3D7"/>
                </a:solidFill>
                <a:latin typeface="Calibri"/>
              </a:rPr>
              <a:t>— how the site works best</a:t>
            </a:r>
          </a:p>
        </p:txBody>
      </p:sp>
      <p:sp>
        <p:nvSpPr>
          <p:cNvPr id="26" name="TextBox 25"/>
          <p:cNvSpPr txBox="1"/>
          <p:nvPr/>
        </p:nvSpPr>
        <p:spPr>
          <a:xfrm>
            <a:off x="6812280" y="5532120"/>
            <a:ext cx="4297680" cy="457200"/>
          </a:xfrm>
          <a:prstGeom prst="rect">
            <a:avLst/>
          </a:prstGeom>
          <a:noFill/>
        </p:spPr>
        <p:txBody>
          <a:bodyPr wrap="square" anchor="t" lIns="25400" rIns="25400" tIns="25400" bIns="25400">
            <a:spAutoFit/>
          </a:bodyPr>
          <a:lstStyle/>
          <a:p>
            <a:pPr algn="l">
              <a:lnSpc>
                <a:spcPct val="105000"/>
              </a:lnSpc>
              <a:spcBef>
                <a:spcPts val="0"/>
              </a:spcBef>
              <a:spcAft>
                <a:spcPts val="600"/>
              </a:spcAft>
            </a:pPr>
            <a:r>
              <a:rPr sz="1300" b="0" i="1">
                <a:solidFill>
                  <a:srgbClr val="9CC4AD"/>
                </a:solidFill>
                <a:latin typeface="Calibri"/>
              </a:rPr>
              <a:t>Perfect for sharing with partners or investors.</a:t>
            </a:r>
          </a:p>
        </p:txBody>
      </p:sp>
      <p:sp>
        <p:nvSpPr>
          <p:cNvPr id="27" name="TextBox 26"/>
          <p:cNvSpPr txBox="1"/>
          <p:nvPr/>
        </p:nvSpPr>
        <p:spPr>
          <a:xfrm>
            <a:off x="502920" y="6419088"/>
            <a:ext cx="7315200" cy="320040"/>
          </a:xfrm>
          <a:prstGeom prst="rect">
            <a:avLst/>
          </a:prstGeom>
          <a:noFill/>
        </p:spPr>
        <p:txBody>
          <a:bodyPr wrap="square" anchor="t" lIns="25400" rIns="25400" tIns="25400" bIns="25400">
            <a:spAutoFit/>
          </a:bodyPr>
          <a:lstStyle/>
          <a:p>
            <a:pPr algn="l">
              <a:lnSpc>
                <a:spcPct val="105000"/>
              </a:lnSpc>
              <a:spcBef>
                <a:spcPts val="0"/>
              </a:spcBef>
              <a:spcAft>
                <a:spcPts val="600"/>
              </a:spcAft>
            </a:pPr>
            <a:r>
              <a:rPr sz="1000" b="0" i="0">
                <a:solidFill>
                  <a:srgbClr val="5C676B"/>
                </a:solidFill>
                <a:latin typeface="Calibri"/>
              </a:rPr>
              <a:t>Oaktree Atlas  ·  Expansion Advisor User Guide</a:t>
            </a:r>
          </a:p>
        </p:txBody>
      </p:sp>
      <p:sp>
        <p:nvSpPr>
          <p:cNvPr id="28" name="TextBox 27"/>
          <p:cNvSpPr txBox="1"/>
          <p:nvPr/>
        </p:nvSpPr>
        <p:spPr>
          <a:xfrm>
            <a:off x="10058400" y="6419088"/>
            <a:ext cx="1645920" cy="320040"/>
          </a:xfrm>
          <a:prstGeom prst="rect">
            <a:avLst/>
          </a:prstGeom>
          <a:noFill/>
        </p:spPr>
        <p:txBody>
          <a:bodyPr wrap="square" anchor="t" lIns="25400" rIns="25400" tIns="25400" bIns="25400">
            <a:spAutoFit/>
          </a:bodyPr>
          <a:lstStyle/>
          <a:p>
            <a:pPr algn="r">
              <a:lnSpc>
                <a:spcPct val="105000"/>
              </a:lnSpc>
              <a:spcBef>
                <a:spcPts val="0"/>
              </a:spcBef>
              <a:spcAft>
                <a:spcPts val="600"/>
              </a:spcAft>
            </a:pPr>
            <a:r>
              <a:rPr sz="1000" b="1" i="0">
                <a:solidFill>
                  <a:srgbClr val="5C676B"/>
                </a:solidFill>
                <a:latin typeface="Calibri"/>
              </a:rPr>
              <a:t>6</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EF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1F4D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02920" y="292608"/>
            <a:ext cx="109728" cy="566928"/>
          </a:xfrm>
          <a:prstGeom prst="rect">
            <a:avLst/>
          </a:prstGeom>
          <a:solidFill>
            <a:srgbClr val="3C8C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164592"/>
            <a:ext cx="10789920" cy="365760"/>
          </a:xfrm>
          <a:prstGeom prst="rect">
            <a:avLst/>
          </a:prstGeom>
          <a:noFill/>
        </p:spPr>
        <p:txBody>
          <a:bodyPr wrap="square" anchor="ctr" lIns="25400" rIns="25400" tIns="25400" bIns="25400">
            <a:spAutoFit/>
          </a:bodyPr>
          <a:lstStyle/>
          <a:p>
            <a:pPr algn="l">
              <a:lnSpc>
                <a:spcPct val="105000"/>
              </a:lnSpc>
              <a:spcBef>
                <a:spcPts val="0"/>
              </a:spcBef>
              <a:spcAft>
                <a:spcPts val="600"/>
              </a:spcAft>
            </a:pPr>
            <a:r>
              <a:rPr sz="1300" b="1" i="0">
                <a:solidFill>
                  <a:srgbClr val="BFD9C8"/>
                </a:solidFill>
                <a:latin typeface="Calibri"/>
              </a:rPr>
              <a:t>STEP 4 · COMPARE</a:t>
            </a:r>
          </a:p>
        </p:txBody>
      </p:sp>
      <p:sp>
        <p:nvSpPr>
          <p:cNvPr id="6" name="TextBox 5"/>
          <p:cNvSpPr txBox="1"/>
          <p:nvPr/>
        </p:nvSpPr>
        <p:spPr>
          <a:xfrm>
            <a:off x="777240" y="457200"/>
            <a:ext cx="10789920" cy="548640"/>
          </a:xfrm>
          <a:prstGeom prst="rect">
            <a:avLst/>
          </a:prstGeom>
          <a:noFill/>
        </p:spPr>
        <p:txBody>
          <a:bodyPr wrap="square" anchor="ctr" lIns="25400" rIns="25400" tIns="25400" bIns="25400">
            <a:spAutoFit/>
          </a:bodyPr>
          <a:lstStyle/>
          <a:p>
            <a:pPr algn="l">
              <a:lnSpc>
                <a:spcPct val="105000"/>
              </a:lnSpc>
              <a:spcBef>
                <a:spcPts val="0"/>
              </a:spcBef>
              <a:spcAft>
                <a:spcPts val="600"/>
              </a:spcAft>
            </a:pPr>
            <a:r>
              <a:rPr sz="2800" b="1" i="0">
                <a:solidFill>
                  <a:srgbClr val="FFFFFF"/>
                </a:solidFill>
                <a:latin typeface="Calibri"/>
              </a:rPr>
              <a:t>Put your favourites head-to-head</a:t>
            </a:r>
          </a:p>
        </p:txBody>
      </p:sp>
      <p:sp>
        <p:nvSpPr>
          <p:cNvPr id="7" name="TextBox 6"/>
          <p:cNvSpPr txBox="1"/>
          <p:nvPr/>
        </p:nvSpPr>
        <p:spPr>
          <a:xfrm>
            <a:off x="777240" y="1371600"/>
            <a:ext cx="10607040" cy="640080"/>
          </a:xfrm>
          <a:prstGeom prst="rect">
            <a:avLst/>
          </a:prstGeom>
          <a:noFill/>
        </p:spPr>
        <p:txBody>
          <a:bodyPr wrap="square" anchor="t" lIns="25400" rIns="25400" tIns="25400" bIns="25400">
            <a:spAutoFit/>
          </a:bodyPr>
          <a:lstStyle/>
          <a:p>
            <a:pPr algn="l">
              <a:lnSpc>
                <a:spcPct val="110000"/>
              </a:lnSpc>
              <a:spcBef>
                <a:spcPts val="0"/>
              </a:spcBef>
              <a:spcAft>
                <a:spcPts val="600"/>
              </a:spcAft>
            </a:pPr>
            <a:r>
              <a:rPr sz="1700" b="0" i="0">
                <a:solidFill>
                  <a:srgbClr val="232A2E"/>
                </a:solidFill>
                <a:latin typeface="Calibri"/>
              </a:rPr>
              <a:t>Tick 2 to 6 sites and press Compare. You get a side-by-side table with a winner badge for each thing that matters — so the trade-offs are obvious at a glance.</a:t>
            </a:r>
          </a:p>
        </p:txBody>
      </p:sp>
      <p:sp>
        <p:nvSpPr>
          <p:cNvPr id="8" name="Rounded Rectangle 7"/>
          <p:cNvSpPr/>
          <p:nvPr/>
        </p:nvSpPr>
        <p:spPr>
          <a:xfrm>
            <a:off x="777240" y="2468880"/>
            <a:ext cx="2542032" cy="640080"/>
          </a:xfrm>
          <a:prstGeom prst="roundRect">
            <a:avLst/>
          </a:prstGeom>
          <a:solidFill>
            <a:srgbClr val="FFFFFF"/>
          </a:solidFill>
          <a:ln w="19050">
            <a:solidFill>
              <a:srgbClr val="3C8C5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2468880"/>
            <a:ext cx="2542032" cy="640080"/>
          </a:xfrm>
          <a:prstGeom prst="rect">
            <a:avLst/>
          </a:prstGeom>
          <a:noFill/>
        </p:spPr>
        <p:txBody>
          <a:bodyPr wrap="square" anchor="ctr" lIns="25400" rIns="25400" tIns="25400" bIns="25400">
            <a:spAutoFit/>
          </a:bodyPr>
          <a:lstStyle/>
          <a:p>
            <a:pPr algn="ctr">
              <a:lnSpc>
                <a:spcPct val="105000"/>
              </a:lnSpc>
              <a:spcBef>
                <a:spcPts val="0"/>
              </a:spcBef>
              <a:spcAft>
                <a:spcPts val="600"/>
              </a:spcAft>
            </a:pPr>
            <a:r>
              <a:rPr sz="1400" b="1" i="0">
                <a:solidFill>
                  <a:srgbClr val="C88A1E"/>
                </a:solidFill>
                <a:latin typeface="Calibri"/>
              </a:rPr>
              <a:t>★ </a:t>
            </a:r>
            <a:r>
              <a:rPr sz="1350" b="1" i="0">
                <a:solidFill>
                  <a:srgbClr val="1F4D3E"/>
                </a:solidFill>
                <a:latin typeface="Calibri"/>
              </a:rPr>
              <a:t>Best Overall</a:t>
            </a:r>
          </a:p>
        </p:txBody>
      </p:sp>
      <p:sp>
        <p:nvSpPr>
          <p:cNvPr id="10" name="Rounded Rectangle 9"/>
          <p:cNvSpPr/>
          <p:nvPr/>
        </p:nvSpPr>
        <p:spPr>
          <a:xfrm>
            <a:off x="3483864" y="2468880"/>
            <a:ext cx="2542032" cy="640080"/>
          </a:xfrm>
          <a:prstGeom prst="roundRect">
            <a:avLst/>
          </a:prstGeom>
          <a:solidFill>
            <a:srgbClr val="FFFFFF"/>
          </a:solidFill>
          <a:ln w="19050">
            <a:solidFill>
              <a:srgbClr val="3C8C5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483864" y="2468880"/>
            <a:ext cx="2542032" cy="640080"/>
          </a:xfrm>
          <a:prstGeom prst="rect">
            <a:avLst/>
          </a:prstGeom>
          <a:noFill/>
        </p:spPr>
        <p:txBody>
          <a:bodyPr wrap="square" anchor="ctr" lIns="25400" rIns="25400" tIns="25400" bIns="25400">
            <a:spAutoFit/>
          </a:bodyPr>
          <a:lstStyle/>
          <a:p>
            <a:pPr algn="ctr">
              <a:lnSpc>
                <a:spcPct val="105000"/>
              </a:lnSpc>
              <a:spcBef>
                <a:spcPts val="0"/>
              </a:spcBef>
              <a:spcAft>
                <a:spcPts val="600"/>
              </a:spcAft>
            </a:pPr>
            <a:r>
              <a:rPr sz="1400" b="1" i="0">
                <a:solidFill>
                  <a:srgbClr val="C88A1E"/>
                </a:solidFill>
                <a:latin typeface="Calibri"/>
              </a:rPr>
              <a:t>★ </a:t>
            </a:r>
            <a:r>
              <a:rPr sz="1350" b="1" i="0">
                <a:solidFill>
                  <a:srgbClr val="1F4D3E"/>
                </a:solidFill>
                <a:latin typeface="Calibri"/>
              </a:rPr>
              <a:t>Best Value</a:t>
            </a:r>
          </a:p>
        </p:txBody>
      </p:sp>
      <p:sp>
        <p:nvSpPr>
          <p:cNvPr id="12" name="Rounded Rectangle 11"/>
          <p:cNvSpPr/>
          <p:nvPr/>
        </p:nvSpPr>
        <p:spPr>
          <a:xfrm>
            <a:off x="6190488" y="2468880"/>
            <a:ext cx="2542032" cy="640080"/>
          </a:xfrm>
          <a:prstGeom prst="roundRect">
            <a:avLst/>
          </a:prstGeom>
          <a:solidFill>
            <a:srgbClr val="FFFFFF"/>
          </a:solidFill>
          <a:ln w="19050">
            <a:solidFill>
              <a:srgbClr val="3C8C5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190488" y="2468880"/>
            <a:ext cx="2542032" cy="640080"/>
          </a:xfrm>
          <a:prstGeom prst="rect">
            <a:avLst/>
          </a:prstGeom>
          <a:noFill/>
        </p:spPr>
        <p:txBody>
          <a:bodyPr wrap="square" anchor="ctr" lIns="25400" rIns="25400" tIns="25400" bIns="25400">
            <a:spAutoFit/>
          </a:bodyPr>
          <a:lstStyle/>
          <a:p>
            <a:pPr algn="ctr">
              <a:lnSpc>
                <a:spcPct val="105000"/>
              </a:lnSpc>
              <a:spcBef>
                <a:spcPts val="0"/>
              </a:spcBef>
              <a:spcAft>
                <a:spcPts val="600"/>
              </a:spcAft>
            </a:pPr>
            <a:r>
              <a:rPr sz="1400" b="1" i="0">
                <a:solidFill>
                  <a:srgbClr val="C88A1E"/>
                </a:solidFill>
                <a:latin typeface="Calibri"/>
              </a:rPr>
              <a:t>★ </a:t>
            </a:r>
            <a:r>
              <a:rPr sz="1350" b="1" i="0">
                <a:solidFill>
                  <a:srgbClr val="1F4D3E"/>
                </a:solidFill>
                <a:latin typeface="Calibri"/>
              </a:rPr>
              <a:t>Lowest Rent</a:t>
            </a:r>
          </a:p>
        </p:txBody>
      </p:sp>
      <p:sp>
        <p:nvSpPr>
          <p:cNvPr id="14" name="Rounded Rectangle 13"/>
          <p:cNvSpPr/>
          <p:nvPr/>
        </p:nvSpPr>
        <p:spPr>
          <a:xfrm>
            <a:off x="8897112" y="2468880"/>
            <a:ext cx="2542032" cy="640080"/>
          </a:xfrm>
          <a:prstGeom prst="roundRect">
            <a:avLst/>
          </a:prstGeom>
          <a:solidFill>
            <a:srgbClr val="FFFFFF"/>
          </a:solidFill>
          <a:ln w="19050">
            <a:solidFill>
              <a:srgbClr val="3C8C5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897112" y="2468880"/>
            <a:ext cx="2542032" cy="640080"/>
          </a:xfrm>
          <a:prstGeom prst="rect">
            <a:avLst/>
          </a:prstGeom>
          <a:noFill/>
        </p:spPr>
        <p:txBody>
          <a:bodyPr wrap="square" anchor="ctr" lIns="25400" rIns="25400" tIns="25400" bIns="25400">
            <a:spAutoFit/>
          </a:bodyPr>
          <a:lstStyle/>
          <a:p>
            <a:pPr algn="ctr">
              <a:lnSpc>
                <a:spcPct val="105000"/>
              </a:lnSpc>
              <a:spcBef>
                <a:spcPts val="0"/>
              </a:spcBef>
              <a:spcAft>
                <a:spcPts val="600"/>
              </a:spcAft>
            </a:pPr>
            <a:r>
              <a:rPr sz="1400" b="1" i="0">
                <a:solidFill>
                  <a:srgbClr val="C88A1E"/>
                </a:solidFill>
                <a:latin typeface="Calibri"/>
              </a:rPr>
              <a:t>★ </a:t>
            </a:r>
            <a:r>
              <a:rPr sz="1350" b="1" i="0">
                <a:solidFill>
                  <a:srgbClr val="1F4D3E"/>
                </a:solidFill>
                <a:latin typeface="Calibri"/>
              </a:rPr>
              <a:t>Best Economics</a:t>
            </a:r>
          </a:p>
        </p:txBody>
      </p:sp>
      <p:sp>
        <p:nvSpPr>
          <p:cNvPr id="16" name="Rounded Rectangle 15"/>
          <p:cNvSpPr/>
          <p:nvPr/>
        </p:nvSpPr>
        <p:spPr>
          <a:xfrm>
            <a:off x="777240" y="3291840"/>
            <a:ext cx="2542032" cy="640080"/>
          </a:xfrm>
          <a:prstGeom prst="roundRect">
            <a:avLst/>
          </a:prstGeom>
          <a:solidFill>
            <a:srgbClr val="FFFFFF"/>
          </a:solidFill>
          <a:ln w="19050">
            <a:solidFill>
              <a:srgbClr val="3C8C5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 y="3291840"/>
            <a:ext cx="2542032" cy="640080"/>
          </a:xfrm>
          <a:prstGeom prst="rect">
            <a:avLst/>
          </a:prstGeom>
          <a:noFill/>
        </p:spPr>
        <p:txBody>
          <a:bodyPr wrap="square" anchor="ctr" lIns="25400" rIns="25400" tIns="25400" bIns="25400">
            <a:spAutoFit/>
          </a:bodyPr>
          <a:lstStyle/>
          <a:p>
            <a:pPr algn="ctr">
              <a:lnSpc>
                <a:spcPct val="105000"/>
              </a:lnSpc>
              <a:spcBef>
                <a:spcPts val="0"/>
              </a:spcBef>
              <a:spcAft>
                <a:spcPts val="600"/>
              </a:spcAft>
            </a:pPr>
            <a:r>
              <a:rPr sz="1400" b="1" i="0">
                <a:solidFill>
                  <a:srgbClr val="C88A1E"/>
                </a:solidFill>
                <a:latin typeface="Calibri"/>
              </a:rPr>
              <a:t>★ </a:t>
            </a:r>
            <a:r>
              <a:rPr sz="1350" b="1" i="0">
                <a:solidFill>
                  <a:srgbClr val="1F4D3E"/>
                </a:solidFill>
                <a:latin typeface="Calibri"/>
              </a:rPr>
              <a:t>Best Brand Fit</a:t>
            </a:r>
          </a:p>
        </p:txBody>
      </p:sp>
      <p:sp>
        <p:nvSpPr>
          <p:cNvPr id="18" name="Rounded Rectangle 17"/>
          <p:cNvSpPr/>
          <p:nvPr/>
        </p:nvSpPr>
        <p:spPr>
          <a:xfrm>
            <a:off x="3483864" y="3291840"/>
            <a:ext cx="2542032" cy="640080"/>
          </a:xfrm>
          <a:prstGeom prst="roundRect">
            <a:avLst/>
          </a:prstGeom>
          <a:solidFill>
            <a:srgbClr val="FFFFFF"/>
          </a:solidFill>
          <a:ln w="19050">
            <a:solidFill>
              <a:srgbClr val="3C8C5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483864" y="3291840"/>
            <a:ext cx="2542032" cy="640080"/>
          </a:xfrm>
          <a:prstGeom prst="rect">
            <a:avLst/>
          </a:prstGeom>
          <a:noFill/>
        </p:spPr>
        <p:txBody>
          <a:bodyPr wrap="square" anchor="ctr" lIns="25400" rIns="25400" tIns="25400" bIns="25400">
            <a:spAutoFit/>
          </a:bodyPr>
          <a:lstStyle/>
          <a:p>
            <a:pPr algn="ctr">
              <a:lnSpc>
                <a:spcPct val="105000"/>
              </a:lnSpc>
              <a:spcBef>
                <a:spcPts val="0"/>
              </a:spcBef>
              <a:spcAft>
                <a:spcPts val="600"/>
              </a:spcAft>
            </a:pPr>
            <a:r>
              <a:rPr sz="1400" b="1" i="0">
                <a:solidFill>
                  <a:srgbClr val="C88A1E"/>
                </a:solidFill>
                <a:latin typeface="Calibri"/>
              </a:rPr>
              <a:t>★ </a:t>
            </a:r>
            <a:r>
              <a:rPr sz="1350" b="1" i="0">
                <a:solidFill>
                  <a:srgbClr val="1F4D3E"/>
                </a:solidFill>
                <a:latin typeface="Calibri"/>
              </a:rPr>
              <a:t>Highest Demand</a:t>
            </a:r>
          </a:p>
        </p:txBody>
      </p:sp>
      <p:sp>
        <p:nvSpPr>
          <p:cNvPr id="20" name="Rounded Rectangle 19"/>
          <p:cNvSpPr/>
          <p:nvPr/>
        </p:nvSpPr>
        <p:spPr>
          <a:xfrm>
            <a:off x="6190488" y="3291840"/>
            <a:ext cx="2542032" cy="640080"/>
          </a:xfrm>
          <a:prstGeom prst="roundRect">
            <a:avLst/>
          </a:prstGeom>
          <a:solidFill>
            <a:srgbClr val="FFFFFF"/>
          </a:solidFill>
          <a:ln w="19050">
            <a:solidFill>
              <a:srgbClr val="3C8C5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190488" y="3291840"/>
            <a:ext cx="2542032" cy="640080"/>
          </a:xfrm>
          <a:prstGeom prst="rect">
            <a:avLst/>
          </a:prstGeom>
          <a:noFill/>
        </p:spPr>
        <p:txBody>
          <a:bodyPr wrap="square" anchor="ctr" lIns="25400" rIns="25400" tIns="25400" bIns="25400">
            <a:spAutoFit/>
          </a:bodyPr>
          <a:lstStyle/>
          <a:p>
            <a:pPr algn="ctr">
              <a:lnSpc>
                <a:spcPct val="105000"/>
              </a:lnSpc>
              <a:spcBef>
                <a:spcPts val="0"/>
              </a:spcBef>
              <a:spcAft>
                <a:spcPts val="600"/>
              </a:spcAft>
            </a:pPr>
            <a:r>
              <a:rPr sz="1400" b="1" i="0">
                <a:solidFill>
                  <a:srgbClr val="C88A1E"/>
                </a:solidFill>
                <a:latin typeface="Calibri"/>
              </a:rPr>
              <a:t>★ </a:t>
            </a:r>
            <a:r>
              <a:rPr sz="1350" b="1" i="0">
                <a:solidFill>
                  <a:srgbClr val="1F4D3E"/>
                </a:solidFill>
                <a:latin typeface="Calibri"/>
              </a:rPr>
              <a:t>Strongest Delivery Market</a:t>
            </a:r>
          </a:p>
        </p:txBody>
      </p:sp>
      <p:sp>
        <p:nvSpPr>
          <p:cNvPr id="22" name="Rounded Rectangle 21"/>
          <p:cNvSpPr/>
          <p:nvPr/>
        </p:nvSpPr>
        <p:spPr>
          <a:xfrm>
            <a:off x="8897112" y="3291840"/>
            <a:ext cx="2542032" cy="640080"/>
          </a:xfrm>
          <a:prstGeom prst="roundRect">
            <a:avLst/>
          </a:prstGeom>
          <a:solidFill>
            <a:srgbClr val="FFFFFF"/>
          </a:solidFill>
          <a:ln w="19050">
            <a:solidFill>
              <a:srgbClr val="3C8C5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897112" y="3291840"/>
            <a:ext cx="2542032" cy="640080"/>
          </a:xfrm>
          <a:prstGeom prst="rect">
            <a:avLst/>
          </a:prstGeom>
          <a:noFill/>
        </p:spPr>
        <p:txBody>
          <a:bodyPr wrap="square" anchor="ctr" lIns="25400" rIns="25400" tIns="25400" bIns="25400">
            <a:spAutoFit/>
          </a:bodyPr>
          <a:lstStyle/>
          <a:p>
            <a:pPr algn="ctr">
              <a:lnSpc>
                <a:spcPct val="105000"/>
              </a:lnSpc>
              <a:spcBef>
                <a:spcPts val="0"/>
              </a:spcBef>
              <a:spcAft>
                <a:spcPts val="600"/>
              </a:spcAft>
            </a:pPr>
            <a:r>
              <a:rPr sz="1400" b="1" i="0">
                <a:solidFill>
                  <a:srgbClr val="C88A1E"/>
                </a:solidFill>
                <a:latin typeface="Calibri"/>
              </a:rPr>
              <a:t>★ </a:t>
            </a:r>
            <a:r>
              <a:rPr sz="1350" b="1" i="0">
                <a:solidFill>
                  <a:srgbClr val="1F4D3E"/>
                </a:solidFill>
                <a:latin typeface="Calibri"/>
              </a:rPr>
              <a:t>Most Whitespace</a:t>
            </a:r>
          </a:p>
        </p:txBody>
      </p:sp>
      <p:sp>
        <p:nvSpPr>
          <p:cNvPr id="24" name="Rounded Rectangle 23"/>
          <p:cNvSpPr/>
          <p:nvPr/>
        </p:nvSpPr>
        <p:spPr>
          <a:xfrm>
            <a:off x="777240" y="4114800"/>
            <a:ext cx="2542032" cy="640080"/>
          </a:xfrm>
          <a:prstGeom prst="roundRect">
            <a:avLst/>
          </a:prstGeom>
          <a:solidFill>
            <a:srgbClr val="FFFFFF"/>
          </a:solidFill>
          <a:ln w="19050">
            <a:solidFill>
              <a:srgbClr val="3C8C5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77240" y="4114800"/>
            <a:ext cx="2542032" cy="640080"/>
          </a:xfrm>
          <a:prstGeom prst="rect">
            <a:avLst/>
          </a:prstGeom>
          <a:noFill/>
        </p:spPr>
        <p:txBody>
          <a:bodyPr wrap="square" anchor="ctr" lIns="25400" rIns="25400" tIns="25400" bIns="25400">
            <a:spAutoFit/>
          </a:bodyPr>
          <a:lstStyle/>
          <a:p>
            <a:pPr algn="ctr">
              <a:lnSpc>
                <a:spcPct val="105000"/>
              </a:lnSpc>
              <a:spcBef>
                <a:spcPts val="0"/>
              </a:spcBef>
              <a:spcAft>
                <a:spcPts val="600"/>
              </a:spcAft>
            </a:pPr>
            <a:r>
              <a:rPr sz="1400" b="1" i="0">
                <a:solidFill>
                  <a:srgbClr val="C88A1E"/>
                </a:solidFill>
                <a:latin typeface="Calibri"/>
              </a:rPr>
              <a:t>★ </a:t>
            </a:r>
            <a:r>
              <a:rPr sz="1350" b="1" i="0">
                <a:solidFill>
                  <a:srgbClr val="1F4D3E"/>
                </a:solidFill>
                <a:latin typeface="Calibri"/>
              </a:rPr>
              <a:t>Lowest Cannibalization</a:t>
            </a:r>
          </a:p>
        </p:txBody>
      </p:sp>
      <p:sp>
        <p:nvSpPr>
          <p:cNvPr id="26" name="Rounded Rectangle 25"/>
          <p:cNvSpPr/>
          <p:nvPr/>
        </p:nvSpPr>
        <p:spPr>
          <a:xfrm>
            <a:off x="3483864" y="4114800"/>
            <a:ext cx="2542032" cy="640080"/>
          </a:xfrm>
          <a:prstGeom prst="roundRect">
            <a:avLst/>
          </a:prstGeom>
          <a:solidFill>
            <a:srgbClr val="FFFFFF"/>
          </a:solidFill>
          <a:ln w="19050">
            <a:solidFill>
              <a:srgbClr val="3C8C5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3483864" y="4114800"/>
            <a:ext cx="2542032" cy="640080"/>
          </a:xfrm>
          <a:prstGeom prst="rect">
            <a:avLst/>
          </a:prstGeom>
          <a:noFill/>
        </p:spPr>
        <p:txBody>
          <a:bodyPr wrap="square" anchor="ctr" lIns="25400" rIns="25400" tIns="25400" bIns="25400">
            <a:spAutoFit/>
          </a:bodyPr>
          <a:lstStyle/>
          <a:p>
            <a:pPr algn="ctr">
              <a:lnSpc>
                <a:spcPct val="105000"/>
              </a:lnSpc>
              <a:spcBef>
                <a:spcPts val="0"/>
              </a:spcBef>
              <a:spcAft>
                <a:spcPts val="600"/>
              </a:spcAft>
            </a:pPr>
            <a:r>
              <a:rPr sz="1400" b="1" i="0">
                <a:solidFill>
                  <a:srgbClr val="C88A1E"/>
                </a:solidFill>
                <a:latin typeface="Calibri"/>
              </a:rPr>
              <a:t>★ </a:t>
            </a:r>
            <a:r>
              <a:rPr sz="1350" b="1" i="0">
                <a:solidFill>
                  <a:srgbClr val="1F4D3E"/>
                </a:solidFill>
                <a:latin typeface="Calibri"/>
              </a:rPr>
              <a:t>Most Confident</a:t>
            </a:r>
          </a:p>
        </p:txBody>
      </p:sp>
      <p:sp>
        <p:nvSpPr>
          <p:cNvPr id="28" name="TextBox 27"/>
          <p:cNvSpPr txBox="1"/>
          <p:nvPr/>
        </p:nvSpPr>
        <p:spPr>
          <a:xfrm>
            <a:off x="777240" y="5074920"/>
            <a:ext cx="10607040" cy="1097280"/>
          </a:xfrm>
          <a:prstGeom prst="rect">
            <a:avLst/>
          </a:prstGeom>
          <a:noFill/>
        </p:spPr>
        <p:txBody>
          <a:bodyPr wrap="square" anchor="t" lIns="25400" rIns="25400" tIns="25400" bIns="25400">
            <a:spAutoFit/>
          </a:bodyPr>
          <a:lstStyle/>
          <a:p>
            <a:pPr algn="l">
              <a:lnSpc>
                <a:spcPct val="115000"/>
              </a:lnSpc>
              <a:spcBef>
                <a:spcPts val="0"/>
              </a:spcBef>
              <a:spcAft>
                <a:spcPts val="600"/>
              </a:spcAft>
            </a:pPr>
            <a:r>
              <a:rPr sz="1600" b="1" i="0">
                <a:solidFill>
                  <a:srgbClr val="1F4D3E"/>
                </a:solidFill>
                <a:latin typeface="Calibri"/>
              </a:rPr>
              <a:t>Why this helps:  </a:t>
            </a:r>
            <a:r>
              <a:rPr sz="1600" b="0" i="0">
                <a:solidFill>
                  <a:srgbClr val="232A2E"/>
                </a:solidFill>
                <a:latin typeface="Calibri"/>
              </a:rPr>
              <a:t>rarely is one site best at everything. One may be cheapest, another may have the most customers. The badges let you pick the trade-off that fits your strategy.</a:t>
            </a:r>
          </a:p>
        </p:txBody>
      </p:sp>
      <p:sp>
        <p:nvSpPr>
          <p:cNvPr id="29" name="TextBox 28"/>
          <p:cNvSpPr txBox="1"/>
          <p:nvPr/>
        </p:nvSpPr>
        <p:spPr>
          <a:xfrm>
            <a:off x="502920" y="6419088"/>
            <a:ext cx="7315200" cy="320040"/>
          </a:xfrm>
          <a:prstGeom prst="rect">
            <a:avLst/>
          </a:prstGeom>
          <a:noFill/>
        </p:spPr>
        <p:txBody>
          <a:bodyPr wrap="square" anchor="t" lIns="25400" rIns="25400" tIns="25400" bIns="25400">
            <a:spAutoFit/>
          </a:bodyPr>
          <a:lstStyle/>
          <a:p>
            <a:pPr algn="l">
              <a:lnSpc>
                <a:spcPct val="105000"/>
              </a:lnSpc>
              <a:spcBef>
                <a:spcPts val="0"/>
              </a:spcBef>
              <a:spcAft>
                <a:spcPts val="600"/>
              </a:spcAft>
            </a:pPr>
            <a:r>
              <a:rPr sz="1000" b="0" i="0">
                <a:solidFill>
                  <a:srgbClr val="5C676B"/>
                </a:solidFill>
                <a:latin typeface="Calibri"/>
              </a:rPr>
              <a:t>Oaktree Atlas  ·  Expansion Advisor User Guide</a:t>
            </a:r>
          </a:p>
        </p:txBody>
      </p:sp>
      <p:sp>
        <p:nvSpPr>
          <p:cNvPr id="30" name="TextBox 29"/>
          <p:cNvSpPr txBox="1"/>
          <p:nvPr/>
        </p:nvSpPr>
        <p:spPr>
          <a:xfrm>
            <a:off x="10058400" y="6419088"/>
            <a:ext cx="1645920" cy="320040"/>
          </a:xfrm>
          <a:prstGeom prst="rect">
            <a:avLst/>
          </a:prstGeom>
          <a:noFill/>
        </p:spPr>
        <p:txBody>
          <a:bodyPr wrap="square" anchor="t" lIns="25400" rIns="25400" tIns="25400" bIns="25400">
            <a:spAutoFit/>
          </a:bodyPr>
          <a:lstStyle/>
          <a:p>
            <a:pPr algn="r">
              <a:lnSpc>
                <a:spcPct val="105000"/>
              </a:lnSpc>
              <a:spcBef>
                <a:spcPts val="0"/>
              </a:spcBef>
              <a:spcAft>
                <a:spcPts val="600"/>
              </a:spcAft>
            </a:pPr>
            <a:r>
              <a:rPr sz="1000" b="1" i="0">
                <a:solidFill>
                  <a:srgbClr val="5C676B"/>
                </a:solidFill>
                <a:latin typeface="Calibri"/>
              </a:rPr>
              <a:t>7</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1F4D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02920" y="292608"/>
            <a:ext cx="109728" cy="566928"/>
          </a:xfrm>
          <a:prstGeom prst="rect">
            <a:avLst/>
          </a:prstGeom>
          <a:solidFill>
            <a:srgbClr val="3C8C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164592"/>
            <a:ext cx="10789920" cy="365760"/>
          </a:xfrm>
          <a:prstGeom prst="rect">
            <a:avLst/>
          </a:prstGeom>
          <a:noFill/>
        </p:spPr>
        <p:txBody>
          <a:bodyPr wrap="square" anchor="ctr" lIns="25400" rIns="25400" tIns="25400" bIns="25400">
            <a:spAutoFit/>
          </a:bodyPr>
          <a:lstStyle/>
          <a:p>
            <a:pPr algn="l">
              <a:lnSpc>
                <a:spcPct val="105000"/>
              </a:lnSpc>
              <a:spcBef>
                <a:spcPts val="0"/>
              </a:spcBef>
              <a:spcAft>
                <a:spcPts val="600"/>
              </a:spcAft>
            </a:pPr>
            <a:r>
              <a:rPr sz="1300" b="1" i="0">
                <a:solidFill>
                  <a:srgbClr val="BFD9C8"/>
                </a:solidFill>
                <a:latin typeface="Calibri"/>
              </a:rPr>
              <a:t>STEP 5 · DECIDE &amp; SHARE</a:t>
            </a:r>
          </a:p>
        </p:txBody>
      </p:sp>
      <p:sp>
        <p:nvSpPr>
          <p:cNvPr id="6" name="TextBox 5"/>
          <p:cNvSpPr txBox="1"/>
          <p:nvPr/>
        </p:nvSpPr>
        <p:spPr>
          <a:xfrm>
            <a:off x="777240" y="457200"/>
            <a:ext cx="10789920" cy="548640"/>
          </a:xfrm>
          <a:prstGeom prst="rect">
            <a:avLst/>
          </a:prstGeom>
          <a:noFill/>
        </p:spPr>
        <p:txBody>
          <a:bodyPr wrap="square" anchor="ctr" lIns="25400" rIns="25400" tIns="25400" bIns="25400">
            <a:spAutoFit/>
          </a:bodyPr>
          <a:lstStyle/>
          <a:p>
            <a:pPr algn="l">
              <a:lnSpc>
                <a:spcPct val="105000"/>
              </a:lnSpc>
              <a:spcBef>
                <a:spcPts val="0"/>
              </a:spcBef>
              <a:spcAft>
                <a:spcPts val="600"/>
              </a:spcAft>
            </a:pPr>
            <a:r>
              <a:rPr sz="2800" b="1" i="0">
                <a:solidFill>
                  <a:srgbClr val="FFFFFF"/>
                </a:solidFill>
                <a:latin typeface="Calibri"/>
              </a:rPr>
              <a:t>Wrap it up into a report</a:t>
            </a:r>
          </a:p>
        </p:txBody>
      </p:sp>
      <p:sp>
        <p:nvSpPr>
          <p:cNvPr id="7" name="Rounded Rectangle 6"/>
          <p:cNvSpPr/>
          <p:nvPr/>
        </p:nvSpPr>
        <p:spPr>
          <a:xfrm>
            <a:off x="777240" y="1554480"/>
            <a:ext cx="5212080" cy="2057400"/>
          </a:xfrm>
          <a:prstGeom prst="roundRect">
            <a:avLst/>
          </a:prstGeom>
          <a:solidFill>
            <a:srgbClr val="FFFFFF"/>
          </a:solidFill>
          <a:ln w="12700">
            <a:solidFill>
              <a:srgbClr val="E2DD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777240" y="1554480"/>
            <a:ext cx="91440" cy="2057400"/>
          </a:xfrm>
          <a:prstGeom prst="roundRect">
            <a:avLst/>
          </a:prstGeom>
          <a:solidFill>
            <a:srgbClr val="1F4D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33272" y="1682496"/>
            <a:ext cx="4800600" cy="457200"/>
          </a:xfrm>
          <a:prstGeom prst="rect">
            <a:avLst/>
          </a:prstGeom>
          <a:noFill/>
        </p:spPr>
        <p:txBody>
          <a:bodyPr wrap="square" anchor="t" lIns="25400" rIns="25400" tIns="25400" bIns="25400">
            <a:spAutoFit/>
          </a:bodyPr>
          <a:lstStyle/>
          <a:p>
            <a:pPr algn="l">
              <a:lnSpc>
                <a:spcPct val="105000"/>
              </a:lnSpc>
              <a:spcBef>
                <a:spcPts val="0"/>
              </a:spcBef>
              <a:spcAft>
                <a:spcPts val="600"/>
              </a:spcAft>
            </a:pPr>
            <a:r>
              <a:rPr sz="1600" b="1" i="0">
                <a:solidFill>
                  <a:srgbClr val="1F4D3E"/>
                </a:solidFill>
                <a:latin typeface="Calibri"/>
              </a:rPr>
              <a:t>Executive Report</a:t>
            </a:r>
          </a:p>
        </p:txBody>
      </p:sp>
      <p:sp>
        <p:nvSpPr>
          <p:cNvPr id="10" name="TextBox 9"/>
          <p:cNvSpPr txBox="1"/>
          <p:nvPr/>
        </p:nvSpPr>
        <p:spPr>
          <a:xfrm>
            <a:off x="1033272" y="2121408"/>
            <a:ext cx="4800600" cy="1417320"/>
          </a:xfrm>
          <a:prstGeom prst="rect">
            <a:avLst/>
          </a:prstGeom>
          <a:noFill/>
        </p:spPr>
        <p:txBody>
          <a:bodyPr wrap="square" anchor="t" lIns="25400" rIns="25400" tIns="25400" bIns="25400">
            <a:spAutoFit/>
          </a:bodyPr>
          <a:lstStyle/>
          <a:p>
            <a:pPr algn="l">
              <a:lnSpc>
                <a:spcPct val="100000"/>
              </a:lnSpc>
              <a:spcBef>
                <a:spcPts val="0"/>
              </a:spcBef>
              <a:spcAft>
                <a:spcPts val="400"/>
              </a:spcAft>
            </a:pPr>
            <a:r>
              <a:rPr sz="1400" b="0" i="0">
                <a:solidFill>
                  <a:srgbClr val="5C676B"/>
                </a:solidFill>
                <a:latin typeface="Calibri"/>
              </a:rPr>
              <a:t>A clean one-screen summary:</a:t>
            </a:r>
          </a:p>
          <a:p>
            <a:pPr algn="l">
              <a:lnSpc>
                <a:spcPct val="100000"/>
              </a:lnSpc>
              <a:spcBef>
                <a:spcPts val="0"/>
              </a:spcBef>
              <a:spcAft>
                <a:spcPts val="400"/>
              </a:spcAft>
            </a:pPr>
            <a:r>
              <a:rPr sz="1400" b="0" i="0">
                <a:solidFill>
                  <a:srgbClr val="5C676B"/>
                </a:solidFill>
                <a:latin typeface="Calibri"/>
              </a:rPr>
              <a:t>your top 3 sites, why the #1</a:t>
            </a:r>
          </a:p>
          <a:p>
            <a:pPr algn="l">
              <a:lnSpc>
                <a:spcPct val="100000"/>
              </a:lnSpc>
              <a:spcBef>
                <a:spcPts val="0"/>
              </a:spcBef>
              <a:spcAft>
                <a:spcPts val="400"/>
              </a:spcAft>
            </a:pPr>
            <a:r>
              <a:rPr sz="1400" b="0" i="0">
                <a:solidFill>
                  <a:srgbClr val="5C676B"/>
                </a:solidFill>
                <a:latin typeface="Calibri"/>
              </a:rPr>
              <a:t>wins, the main risk, and the</a:t>
            </a:r>
          </a:p>
          <a:p>
            <a:pPr algn="l">
              <a:lnSpc>
                <a:spcPct val="100000"/>
              </a:lnSpc>
              <a:spcBef>
                <a:spcPts val="0"/>
              </a:spcBef>
              <a:spcAft>
                <a:spcPts val="400"/>
              </a:spcAft>
            </a:pPr>
            <a:r>
              <a:rPr sz="1400" b="0" i="0">
                <a:solidFill>
                  <a:srgbClr val="5C676B"/>
                </a:solidFill>
                <a:latin typeface="Calibri"/>
              </a:rPr>
              <a:t>best store format.</a:t>
            </a:r>
          </a:p>
        </p:txBody>
      </p:sp>
      <p:sp>
        <p:nvSpPr>
          <p:cNvPr id="11" name="Rounded Rectangle 10"/>
          <p:cNvSpPr/>
          <p:nvPr/>
        </p:nvSpPr>
        <p:spPr>
          <a:xfrm>
            <a:off x="777240" y="3840480"/>
            <a:ext cx="5212080" cy="2057400"/>
          </a:xfrm>
          <a:prstGeom prst="roundRect">
            <a:avLst/>
          </a:prstGeom>
          <a:solidFill>
            <a:srgbClr val="FFFFFF"/>
          </a:solidFill>
          <a:ln w="12700">
            <a:solidFill>
              <a:srgbClr val="E2DD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777240" y="3840480"/>
            <a:ext cx="91440" cy="2057400"/>
          </a:xfrm>
          <a:prstGeom prst="roundRect">
            <a:avLst/>
          </a:prstGeom>
          <a:solidFill>
            <a:srgbClr val="3C8C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33272" y="3968496"/>
            <a:ext cx="4800600" cy="457200"/>
          </a:xfrm>
          <a:prstGeom prst="rect">
            <a:avLst/>
          </a:prstGeom>
          <a:noFill/>
        </p:spPr>
        <p:txBody>
          <a:bodyPr wrap="square" anchor="t" lIns="25400" rIns="25400" tIns="25400" bIns="25400">
            <a:spAutoFit/>
          </a:bodyPr>
          <a:lstStyle/>
          <a:p>
            <a:pPr algn="l">
              <a:lnSpc>
                <a:spcPct val="105000"/>
              </a:lnSpc>
              <a:spcBef>
                <a:spcPts val="0"/>
              </a:spcBef>
              <a:spcAft>
                <a:spcPts val="600"/>
              </a:spcAft>
            </a:pPr>
            <a:r>
              <a:rPr sz="1600" b="1" i="0">
                <a:solidFill>
                  <a:srgbClr val="1F4D3E"/>
                </a:solidFill>
                <a:latin typeface="Calibri"/>
              </a:rPr>
              <a:t>Presentation Mode</a:t>
            </a:r>
          </a:p>
        </p:txBody>
      </p:sp>
      <p:sp>
        <p:nvSpPr>
          <p:cNvPr id="14" name="TextBox 13"/>
          <p:cNvSpPr txBox="1"/>
          <p:nvPr/>
        </p:nvSpPr>
        <p:spPr>
          <a:xfrm>
            <a:off x="1033272" y="4407408"/>
            <a:ext cx="4800600" cy="1417320"/>
          </a:xfrm>
          <a:prstGeom prst="rect">
            <a:avLst/>
          </a:prstGeom>
          <a:noFill/>
        </p:spPr>
        <p:txBody>
          <a:bodyPr wrap="square" anchor="t" lIns="25400" rIns="25400" tIns="25400" bIns="25400">
            <a:spAutoFit/>
          </a:bodyPr>
          <a:lstStyle/>
          <a:p>
            <a:pPr algn="l">
              <a:lnSpc>
                <a:spcPct val="100000"/>
              </a:lnSpc>
              <a:spcBef>
                <a:spcPts val="0"/>
              </a:spcBef>
              <a:spcAft>
                <a:spcPts val="400"/>
              </a:spcAft>
            </a:pPr>
            <a:r>
              <a:rPr sz="1400" b="0" i="0">
                <a:solidFill>
                  <a:srgbClr val="5C676B"/>
                </a:solidFill>
                <a:latin typeface="Calibri"/>
              </a:rPr>
              <a:t>A tidy slideshow view, ready</a:t>
            </a:r>
          </a:p>
          <a:p>
            <a:pPr algn="l">
              <a:lnSpc>
                <a:spcPct val="100000"/>
              </a:lnSpc>
              <a:spcBef>
                <a:spcPts val="0"/>
              </a:spcBef>
              <a:spcAft>
                <a:spcPts val="400"/>
              </a:spcAft>
            </a:pPr>
            <a:r>
              <a:rPr sz="1400" b="0" i="0">
                <a:solidFill>
                  <a:srgbClr val="5C676B"/>
                </a:solidFill>
                <a:latin typeface="Calibri"/>
              </a:rPr>
              <a:t>to show to partners,</a:t>
            </a:r>
          </a:p>
          <a:p>
            <a:pPr algn="l">
              <a:lnSpc>
                <a:spcPct val="100000"/>
              </a:lnSpc>
              <a:spcBef>
                <a:spcPts val="0"/>
              </a:spcBef>
              <a:spcAft>
                <a:spcPts val="400"/>
              </a:spcAft>
            </a:pPr>
            <a:r>
              <a:rPr sz="1400" b="0" i="0">
                <a:solidFill>
                  <a:srgbClr val="5C676B"/>
                </a:solidFill>
                <a:latin typeface="Calibri"/>
              </a:rPr>
              <a:t>landlords or investors</a:t>
            </a:r>
          </a:p>
          <a:p>
            <a:pPr algn="l">
              <a:lnSpc>
                <a:spcPct val="100000"/>
              </a:lnSpc>
              <a:spcBef>
                <a:spcPts val="0"/>
              </a:spcBef>
              <a:spcAft>
                <a:spcPts val="400"/>
              </a:spcAft>
            </a:pPr>
            <a:r>
              <a:rPr sz="1400" b="0" i="0">
                <a:solidFill>
                  <a:srgbClr val="5C676B"/>
                </a:solidFill>
                <a:latin typeface="Calibri"/>
              </a:rPr>
              <a:t>without any clutter.</a:t>
            </a:r>
          </a:p>
        </p:txBody>
      </p:sp>
      <p:sp>
        <p:nvSpPr>
          <p:cNvPr id="15" name="Rounded Rectangle 14"/>
          <p:cNvSpPr/>
          <p:nvPr/>
        </p:nvSpPr>
        <p:spPr>
          <a:xfrm>
            <a:off x="6172200" y="1554480"/>
            <a:ext cx="5212080" cy="2057400"/>
          </a:xfrm>
          <a:prstGeom prst="roundRect">
            <a:avLst/>
          </a:prstGeom>
          <a:solidFill>
            <a:srgbClr val="FFFFFF"/>
          </a:solidFill>
          <a:ln w="12700">
            <a:solidFill>
              <a:srgbClr val="E2DD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172200" y="1554480"/>
            <a:ext cx="91440" cy="2057400"/>
          </a:xfrm>
          <a:prstGeom prst="roundRect">
            <a:avLst/>
          </a:prstGeom>
          <a:solidFill>
            <a:srgbClr val="C88A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28232" y="1682496"/>
            <a:ext cx="4800600" cy="457200"/>
          </a:xfrm>
          <a:prstGeom prst="rect">
            <a:avLst/>
          </a:prstGeom>
          <a:noFill/>
        </p:spPr>
        <p:txBody>
          <a:bodyPr wrap="square" anchor="t" lIns="25400" rIns="25400" tIns="25400" bIns="25400">
            <a:spAutoFit/>
          </a:bodyPr>
          <a:lstStyle/>
          <a:p>
            <a:pPr algn="l">
              <a:lnSpc>
                <a:spcPct val="105000"/>
              </a:lnSpc>
              <a:spcBef>
                <a:spcPts val="0"/>
              </a:spcBef>
              <a:spcAft>
                <a:spcPts val="600"/>
              </a:spcAft>
            </a:pPr>
            <a:r>
              <a:rPr sz="1600" b="1" i="0">
                <a:solidFill>
                  <a:srgbClr val="1F4D3E"/>
                </a:solidFill>
                <a:latin typeface="Calibri"/>
              </a:rPr>
              <a:t>Save your search</a:t>
            </a:r>
          </a:p>
        </p:txBody>
      </p:sp>
      <p:sp>
        <p:nvSpPr>
          <p:cNvPr id="18" name="TextBox 17"/>
          <p:cNvSpPr txBox="1"/>
          <p:nvPr/>
        </p:nvSpPr>
        <p:spPr>
          <a:xfrm>
            <a:off x="6428232" y="2121408"/>
            <a:ext cx="4800600" cy="1417320"/>
          </a:xfrm>
          <a:prstGeom prst="rect">
            <a:avLst/>
          </a:prstGeom>
          <a:noFill/>
        </p:spPr>
        <p:txBody>
          <a:bodyPr wrap="square" anchor="t" lIns="25400" rIns="25400" tIns="25400" bIns="25400">
            <a:spAutoFit/>
          </a:bodyPr>
          <a:lstStyle/>
          <a:p>
            <a:pPr algn="l">
              <a:lnSpc>
                <a:spcPct val="100000"/>
              </a:lnSpc>
              <a:spcBef>
                <a:spcPts val="0"/>
              </a:spcBef>
              <a:spcAft>
                <a:spcPts val="400"/>
              </a:spcAft>
            </a:pPr>
            <a:r>
              <a:rPr sz="1400" b="0" i="0">
                <a:solidFill>
                  <a:srgbClr val="5C676B"/>
                </a:solidFill>
                <a:latin typeface="Calibri"/>
              </a:rPr>
              <a:t>Keep a search as a Draft or</a:t>
            </a:r>
          </a:p>
          <a:p>
            <a:pPr algn="l">
              <a:lnSpc>
                <a:spcPct val="100000"/>
              </a:lnSpc>
              <a:spcBef>
                <a:spcPts val="0"/>
              </a:spcBef>
              <a:spcAft>
                <a:spcPts val="400"/>
              </a:spcAft>
            </a:pPr>
            <a:r>
              <a:rPr sz="1400" b="0" i="0">
                <a:solidFill>
                  <a:srgbClr val="5C676B"/>
                </a:solidFill>
                <a:latin typeface="Calibri"/>
              </a:rPr>
              <a:t>mark it Final so you can</a:t>
            </a:r>
          </a:p>
          <a:p>
            <a:pPr algn="l">
              <a:lnSpc>
                <a:spcPct val="100000"/>
              </a:lnSpc>
              <a:spcBef>
                <a:spcPts val="0"/>
              </a:spcBef>
              <a:spcAft>
                <a:spcPts val="400"/>
              </a:spcAft>
            </a:pPr>
            <a:r>
              <a:rPr sz="1400" b="0" i="0">
                <a:solidFill>
                  <a:srgbClr val="5C676B"/>
                </a:solidFill>
                <a:latin typeface="Calibri"/>
              </a:rPr>
              <a:t>return to it later.</a:t>
            </a:r>
          </a:p>
        </p:txBody>
      </p:sp>
      <p:sp>
        <p:nvSpPr>
          <p:cNvPr id="19" name="Rounded Rectangle 18"/>
          <p:cNvSpPr/>
          <p:nvPr/>
        </p:nvSpPr>
        <p:spPr>
          <a:xfrm>
            <a:off x="6172200" y="3840480"/>
            <a:ext cx="5212080" cy="2057400"/>
          </a:xfrm>
          <a:prstGeom prst="roundRect">
            <a:avLst/>
          </a:prstGeom>
          <a:solidFill>
            <a:srgbClr val="FFFFFF"/>
          </a:solidFill>
          <a:ln w="12700">
            <a:solidFill>
              <a:srgbClr val="E2DD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6172200" y="3840480"/>
            <a:ext cx="91440" cy="2057400"/>
          </a:xfrm>
          <a:prstGeom prst="roundRect">
            <a:avLst/>
          </a:prstGeom>
          <a:solidFill>
            <a:srgbClr val="B33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28232" y="3968496"/>
            <a:ext cx="4800600" cy="457200"/>
          </a:xfrm>
          <a:prstGeom prst="rect">
            <a:avLst/>
          </a:prstGeom>
          <a:noFill/>
        </p:spPr>
        <p:txBody>
          <a:bodyPr wrap="square" anchor="t" lIns="25400" rIns="25400" tIns="25400" bIns="25400">
            <a:spAutoFit/>
          </a:bodyPr>
          <a:lstStyle/>
          <a:p>
            <a:pPr algn="l">
              <a:lnSpc>
                <a:spcPct val="105000"/>
              </a:lnSpc>
              <a:spcBef>
                <a:spcPts val="0"/>
              </a:spcBef>
              <a:spcAft>
                <a:spcPts val="600"/>
              </a:spcAft>
            </a:pPr>
            <a:r>
              <a:rPr sz="1600" b="1" i="0">
                <a:solidFill>
                  <a:srgbClr val="1F4D3E"/>
                </a:solidFill>
                <a:latin typeface="Calibri"/>
              </a:rPr>
              <a:t>Shortlist finalists</a:t>
            </a:r>
          </a:p>
        </p:txBody>
      </p:sp>
      <p:sp>
        <p:nvSpPr>
          <p:cNvPr id="22" name="TextBox 21"/>
          <p:cNvSpPr txBox="1"/>
          <p:nvPr/>
        </p:nvSpPr>
        <p:spPr>
          <a:xfrm>
            <a:off x="6428232" y="4407408"/>
            <a:ext cx="4800600" cy="1417320"/>
          </a:xfrm>
          <a:prstGeom prst="rect">
            <a:avLst/>
          </a:prstGeom>
          <a:noFill/>
        </p:spPr>
        <p:txBody>
          <a:bodyPr wrap="square" anchor="t" lIns="25400" rIns="25400" tIns="25400" bIns="25400">
            <a:spAutoFit/>
          </a:bodyPr>
          <a:lstStyle/>
          <a:p>
            <a:pPr algn="l">
              <a:lnSpc>
                <a:spcPct val="100000"/>
              </a:lnSpc>
              <a:spcBef>
                <a:spcPts val="0"/>
              </a:spcBef>
              <a:spcAft>
                <a:spcPts val="400"/>
              </a:spcAft>
            </a:pPr>
            <a:r>
              <a:rPr sz="1400" b="0" i="0">
                <a:solidFill>
                  <a:srgbClr val="5C676B"/>
                </a:solidFill>
                <a:latin typeface="Calibri"/>
              </a:rPr>
              <a:t>Bookmark 2–6 favourite sites</a:t>
            </a:r>
          </a:p>
          <a:p>
            <a:pPr algn="l">
              <a:lnSpc>
                <a:spcPct val="100000"/>
              </a:lnSpc>
              <a:spcBef>
                <a:spcPts val="0"/>
              </a:spcBef>
              <a:spcAft>
                <a:spcPts val="400"/>
              </a:spcAft>
            </a:pPr>
            <a:r>
              <a:rPr sz="1400" b="0" i="0">
                <a:solidFill>
                  <a:srgbClr val="5C676B"/>
                </a:solidFill>
                <a:latin typeface="Calibri"/>
              </a:rPr>
              <a:t>as finalists to revisit and</a:t>
            </a:r>
          </a:p>
          <a:p>
            <a:pPr algn="l">
              <a:lnSpc>
                <a:spcPct val="100000"/>
              </a:lnSpc>
              <a:spcBef>
                <a:spcPts val="0"/>
              </a:spcBef>
              <a:spcAft>
                <a:spcPts val="400"/>
              </a:spcAft>
            </a:pPr>
            <a:r>
              <a:rPr sz="1400" b="0" i="0">
                <a:solidFill>
                  <a:srgbClr val="5C676B"/>
                </a:solidFill>
                <a:latin typeface="Calibri"/>
              </a:rPr>
              <a:t>compare another day.</a:t>
            </a:r>
          </a:p>
        </p:txBody>
      </p:sp>
      <p:sp>
        <p:nvSpPr>
          <p:cNvPr id="23" name="TextBox 22"/>
          <p:cNvSpPr txBox="1"/>
          <p:nvPr/>
        </p:nvSpPr>
        <p:spPr>
          <a:xfrm>
            <a:off x="502920" y="6419088"/>
            <a:ext cx="7315200" cy="320040"/>
          </a:xfrm>
          <a:prstGeom prst="rect">
            <a:avLst/>
          </a:prstGeom>
          <a:noFill/>
        </p:spPr>
        <p:txBody>
          <a:bodyPr wrap="square" anchor="t" lIns="25400" rIns="25400" tIns="25400" bIns="25400">
            <a:spAutoFit/>
          </a:bodyPr>
          <a:lstStyle/>
          <a:p>
            <a:pPr algn="l">
              <a:lnSpc>
                <a:spcPct val="105000"/>
              </a:lnSpc>
              <a:spcBef>
                <a:spcPts val="0"/>
              </a:spcBef>
              <a:spcAft>
                <a:spcPts val="600"/>
              </a:spcAft>
            </a:pPr>
            <a:r>
              <a:rPr sz="1000" b="0" i="0">
                <a:solidFill>
                  <a:srgbClr val="5C676B"/>
                </a:solidFill>
                <a:latin typeface="Calibri"/>
              </a:rPr>
              <a:t>Oaktree Atlas  ·  Expansion Advisor User Guide</a:t>
            </a:r>
          </a:p>
        </p:txBody>
      </p:sp>
      <p:sp>
        <p:nvSpPr>
          <p:cNvPr id="24" name="TextBox 23"/>
          <p:cNvSpPr txBox="1"/>
          <p:nvPr/>
        </p:nvSpPr>
        <p:spPr>
          <a:xfrm>
            <a:off x="10058400" y="6419088"/>
            <a:ext cx="1645920" cy="320040"/>
          </a:xfrm>
          <a:prstGeom prst="rect">
            <a:avLst/>
          </a:prstGeom>
          <a:noFill/>
        </p:spPr>
        <p:txBody>
          <a:bodyPr wrap="square" anchor="t" lIns="25400" rIns="25400" tIns="25400" bIns="25400">
            <a:spAutoFit/>
          </a:bodyPr>
          <a:lstStyle/>
          <a:p>
            <a:pPr algn="r">
              <a:lnSpc>
                <a:spcPct val="105000"/>
              </a:lnSpc>
              <a:spcBef>
                <a:spcPts val="0"/>
              </a:spcBef>
              <a:spcAft>
                <a:spcPts val="600"/>
              </a:spcAft>
            </a:pPr>
            <a:r>
              <a:rPr sz="1000" b="1" i="0">
                <a:solidFill>
                  <a:srgbClr val="5C676B"/>
                </a:solidFill>
                <a:latin typeface="Calibri"/>
              </a:rPr>
              <a:t>8</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EF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1F4D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02920" y="292608"/>
            <a:ext cx="109728" cy="566928"/>
          </a:xfrm>
          <a:prstGeom prst="rect">
            <a:avLst/>
          </a:prstGeom>
          <a:solidFill>
            <a:srgbClr val="3C8C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164592"/>
            <a:ext cx="10789920" cy="365760"/>
          </a:xfrm>
          <a:prstGeom prst="rect">
            <a:avLst/>
          </a:prstGeom>
          <a:noFill/>
        </p:spPr>
        <p:txBody>
          <a:bodyPr wrap="square" anchor="ctr" lIns="25400" rIns="25400" tIns="25400" bIns="25400">
            <a:spAutoFit/>
          </a:bodyPr>
          <a:lstStyle/>
          <a:p>
            <a:pPr algn="l">
              <a:lnSpc>
                <a:spcPct val="105000"/>
              </a:lnSpc>
              <a:spcBef>
                <a:spcPts val="0"/>
              </a:spcBef>
              <a:spcAft>
                <a:spcPts val="600"/>
              </a:spcAft>
            </a:pPr>
            <a:r>
              <a:rPr sz="1300" b="1" i="0">
                <a:solidFill>
                  <a:srgbClr val="BFD9C8"/>
                </a:solidFill>
                <a:latin typeface="Calibri"/>
              </a:rPr>
              <a:t>PLAIN-ENGLISH GLOSSARY</a:t>
            </a:r>
          </a:p>
        </p:txBody>
      </p:sp>
      <p:sp>
        <p:nvSpPr>
          <p:cNvPr id="6" name="TextBox 5"/>
          <p:cNvSpPr txBox="1"/>
          <p:nvPr/>
        </p:nvSpPr>
        <p:spPr>
          <a:xfrm>
            <a:off x="777240" y="457200"/>
            <a:ext cx="10789920" cy="548640"/>
          </a:xfrm>
          <a:prstGeom prst="rect">
            <a:avLst/>
          </a:prstGeom>
          <a:noFill/>
        </p:spPr>
        <p:txBody>
          <a:bodyPr wrap="square" anchor="ctr" lIns="25400" rIns="25400" tIns="25400" bIns="25400">
            <a:spAutoFit/>
          </a:bodyPr>
          <a:lstStyle/>
          <a:p>
            <a:pPr algn="l">
              <a:lnSpc>
                <a:spcPct val="105000"/>
              </a:lnSpc>
              <a:spcBef>
                <a:spcPts val="0"/>
              </a:spcBef>
              <a:spcAft>
                <a:spcPts val="600"/>
              </a:spcAft>
            </a:pPr>
            <a:r>
              <a:rPr sz="2800" b="1" i="0">
                <a:solidFill>
                  <a:srgbClr val="FFFFFF"/>
                </a:solidFill>
                <a:latin typeface="Calibri"/>
              </a:rPr>
              <a:t>The words you'll see, explained simply</a:t>
            </a:r>
          </a:p>
        </p:txBody>
      </p:sp>
      <p:sp>
        <p:nvSpPr>
          <p:cNvPr id="7" name="Rounded Rectangle 6"/>
          <p:cNvSpPr/>
          <p:nvPr/>
        </p:nvSpPr>
        <p:spPr>
          <a:xfrm>
            <a:off x="777240" y="1508760"/>
            <a:ext cx="5303520" cy="658368"/>
          </a:xfrm>
          <a:prstGeom prst="roundRect">
            <a:avLst/>
          </a:prstGeom>
          <a:solidFill>
            <a:srgbClr val="FFFFFF"/>
          </a:solidFill>
          <a:ln w="12700">
            <a:solidFill>
              <a:srgbClr val="E2DD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777240" y="1508760"/>
            <a:ext cx="82296" cy="658368"/>
          </a:xfrm>
          <a:prstGeom prst="roundRect">
            <a:avLst/>
          </a:prstGeom>
          <a:solidFill>
            <a:srgbClr val="3C8C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536192"/>
            <a:ext cx="4937760" cy="603504"/>
          </a:xfrm>
          <a:prstGeom prst="rect">
            <a:avLst/>
          </a:prstGeom>
          <a:noFill/>
        </p:spPr>
        <p:txBody>
          <a:bodyPr wrap="square" anchor="ctr" lIns="25400" rIns="25400" tIns="25400" bIns="25400">
            <a:spAutoFit/>
          </a:bodyPr>
          <a:lstStyle/>
          <a:p>
            <a:pPr algn="l">
              <a:lnSpc>
                <a:spcPct val="92000"/>
              </a:lnSpc>
              <a:spcBef>
                <a:spcPts val="0"/>
              </a:spcBef>
              <a:spcAft>
                <a:spcPts val="600"/>
              </a:spcAft>
            </a:pPr>
            <a:r>
              <a:rPr sz="1450" b="1" i="0">
                <a:solidFill>
                  <a:srgbClr val="1F4D3E"/>
                </a:solidFill>
                <a:latin typeface="Calibri"/>
              </a:rPr>
              <a:t>Demand  </a:t>
            </a:r>
            <a:r>
              <a:rPr sz="1250" b="0" i="0">
                <a:solidFill>
                  <a:srgbClr val="5C676B"/>
                </a:solidFill>
                <a:latin typeface="Calibri"/>
              </a:rPr>
              <a:t>How many customers are likely nearby.</a:t>
            </a:r>
          </a:p>
        </p:txBody>
      </p:sp>
      <p:sp>
        <p:nvSpPr>
          <p:cNvPr id="10" name="Rounded Rectangle 9"/>
          <p:cNvSpPr/>
          <p:nvPr/>
        </p:nvSpPr>
        <p:spPr>
          <a:xfrm>
            <a:off x="777240" y="2258568"/>
            <a:ext cx="5303520" cy="658368"/>
          </a:xfrm>
          <a:prstGeom prst="roundRect">
            <a:avLst/>
          </a:prstGeom>
          <a:solidFill>
            <a:srgbClr val="FFFFFF"/>
          </a:solidFill>
          <a:ln w="12700">
            <a:solidFill>
              <a:srgbClr val="E2DD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777240" y="2258568"/>
            <a:ext cx="82296" cy="658368"/>
          </a:xfrm>
          <a:prstGeom prst="roundRect">
            <a:avLst/>
          </a:prstGeom>
          <a:solidFill>
            <a:srgbClr val="3C8C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05840" y="2286000"/>
            <a:ext cx="4937760" cy="603504"/>
          </a:xfrm>
          <a:prstGeom prst="rect">
            <a:avLst/>
          </a:prstGeom>
          <a:noFill/>
        </p:spPr>
        <p:txBody>
          <a:bodyPr wrap="square" anchor="ctr" lIns="25400" rIns="25400" tIns="25400" bIns="25400">
            <a:spAutoFit/>
          </a:bodyPr>
          <a:lstStyle/>
          <a:p>
            <a:pPr algn="l">
              <a:lnSpc>
                <a:spcPct val="92000"/>
              </a:lnSpc>
              <a:spcBef>
                <a:spcPts val="0"/>
              </a:spcBef>
              <a:spcAft>
                <a:spcPts val="600"/>
              </a:spcAft>
            </a:pPr>
            <a:r>
              <a:rPr sz="1450" b="1" i="0">
                <a:solidFill>
                  <a:srgbClr val="1F4D3E"/>
                </a:solidFill>
                <a:latin typeface="Calibri"/>
              </a:rPr>
              <a:t>Whitespace  </a:t>
            </a:r>
            <a:r>
              <a:rPr sz="1250" b="0" i="0">
                <a:solidFill>
                  <a:srgbClr val="5C676B"/>
                </a:solidFill>
                <a:latin typeface="Calibri"/>
              </a:rPr>
              <a:t>Open opportunity — few competitors like you in the area.</a:t>
            </a:r>
          </a:p>
        </p:txBody>
      </p:sp>
      <p:sp>
        <p:nvSpPr>
          <p:cNvPr id="13" name="Rounded Rectangle 12"/>
          <p:cNvSpPr/>
          <p:nvPr/>
        </p:nvSpPr>
        <p:spPr>
          <a:xfrm>
            <a:off x="777240" y="3008376"/>
            <a:ext cx="5303520" cy="658368"/>
          </a:xfrm>
          <a:prstGeom prst="roundRect">
            <a:avLst/>
          </a:prstGeom>
          <a:solidFill>
            <a:srgbClr val="FFFFFF"/>
          </a:solidFill>
          <a:ln w="12700">
            <a:solidFill>
              <a:srgbClr val="E2DD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777240" y="3008376"/>
            <a:ext cx="82296" cy="658368"/>
          </a:xfrm>
          <a:prstGeom prst="roundRect">
            <a:avLst/>
          </a:prstGeom>
          <a:solidFill>
            <a:srgbClr val="3C8C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05840" y="3035808"/>
            <a:ext cx="4937760" cy="603504"/>
          </a:xfrm>
          <a:prstGeom prst="rect">
            <a:avLst/>
          </a:prstGeom>
          <a:noFill/>
        </p:spPr>
        <p:txBody>
          <a:bodyPr wrap="square" anchor="ctr" lIns="25400" rIns="25400" tIns="25400" bIns="25400">
            <a:spAutoFit/>
          </a:bodyPr>
          <a:lstStyle/>
          <a:p>
            <a:pPr algn="l">
              <a:lnSpc>
                <a:spcPct val="92000"/>
              </a:lnSpc>
              <a:spcBef>
                <a:spcPts val="0"/>
              </a:spcBef>
              <a:spcAft>
                <a:spcPts val="600"/>
              </a:spcAft>
            </a:pPr>
            <a:r>
              <a:rPr sz="1450" b="1" i="0">
                <a:solidFill>
                  <a:srgbClr val="1F4D3E"/>
                </a:solidFill>
                <a:latin typeface="Calibri"/>
              </a:rPr>
              <a:t>Brand fit  </a:t>
            </a:r>
            <a:r>
              <a:rPr sz="1250" b="0" i="0">
                <a:solidFill>
                  <a:srgbClr val="5C676B"/>
                </a:solidFill>
                <a:latin typeface="Calibri"/>
              </a:rPr>
              <a:t>How well a site matches how your brand operates.</a:t>
            </a:r>
          </a:p>
        </p:txBody>
      </p:sp>
      <p:sp>
        <p:nvSpPr>
          <p:cNvPr id="16" name="Rounded Rectangle 15"/>
          <p:cNvSpPr/>
          <p:nvPr/>
        </p:nvSpPr>
        <p:spPr>
          <a:xfrm>
            <a:off x="777240" y="3758184"/>
            <a:ext cx="5303520" cy="658368"/>
          </a:xfrm>
          <a:prstGeom prst="roundRect">
            <a:avLst/>
          </a:prstGeom>
          <a:solidFill>
            <a:srgbClr val="FFFFFF"/>
          </a:solidFill>
          <a:ln w="12700">
            <a:solidFill>
              <a:srgbClr val="E2DD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777240" y="3758184"/>
            <a:ext cx="82296" cy="658368"/>
          </a:xfrm>
          <a:prstGeom prst="roundRect">
            <a:avLst/>
          </a:prstGeom>
          <a:solidFill>
            <a:srgbClr val="3C8C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05840" y="3785616"/>
            <a:ext cx="4937760" cy="603504"/>
          </a:xfrm>
          <a:prstGeom prst="rect">
            <a:avLst/>
          </a:prstGeom>
          <a:noFill/>
        </p:spPr>
        <p:txBody>
          <a:bodyPr wrap="square" anchor="ctr" lIns="25400" rIns="25400" tIns="25400" bIns="25400">
            <a:spAutoFit/>
          </a:bodyPr>
          <a:lstStyle/>
          <a:p>
            <a:pPr algn="l">
              <a:lnSpc>
                <a:spcPct val="92000"/>
              </a:lnSpc>
              <a:spcBef>
                <a:spcPts val="0"/>
              </a:spcBef>
              <a:spcAft>
                <a:spcPts val="600"/>
              </a:spcAft>
            </a:pPr>
            <a:r>
              <a:rPr sz="1450" b="1" i="0">
                <a:solidFill>
                  <a:srgbClr val="1F4D3E"/>
                </a:solidFill>
                <a:latin typeface="Calibri"/>
              </a:rPr>
              <a:t>Economics  </a:t>
            </a:r>
            <a:r>
              <a:rPr sz="1250" b="0" i="0">
                <a:solidFill>
                  <a:srgbClr val="5C676B"/>
                </a:solidFill>
                <a:latin typeface="Calibri"/>
              </a:rPr>
              <a:t>Whether the likely rent makes sense for the sales possible.</a:t>
            </a:r>
          </a:p>
        </p:txBody>
      </p:sp>
      <p:sp>
        <p:nvSpPr>
          <p:cNvPr id="19" name="Rounded Rectangle 18"/>
          <p:cNvSpPr/>
          <p:nvPr/>
        </p:nvSpPr>
        <p:spPr>
          <a:xfrm>
            <a:off x="777240" y="4507992"/>
            <a:ext cx="5303520" cy="658368"/>
          </a:xfrm>
          <a:prstGeom prst="roundRect">
            <a:avLst/>
          </a:prstGeom>
          <a:solidFill>
            <a:srgbClr val="FFFFFF"/>
          </a:solidFill>
          <a:ln w="12700">
            <a:solidFill>
              <a:srgbClr val="E2DD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777240" y="4507992"/>
            <a:ext cx="82296" cy="658368"/>
          </a:xfrm>
          <a:prstGeom prst="roundRect">
            <a:avLst/>
          </a:prstGeom>
          <a:solidFill>
            <a:srgbClr val="3C8C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005840" y="4535424"/>
            <a:ext cx="4937760" cy="603504"/>
          </a:xfrm>
          <a:prstGeom prst="rect">
            <a:avLst/>
          </a:prstGeom>
          <a:noFill/>
        </p:spPr>
        <p:txBody>
          <a:bodyPr wrap="square" anchor="ctr" lIns="25400" rIns="25400" tIns="25400" bIns="25400">
            <a:spAutoFit/>
          </a:bodyPr>
          <a:lstStyle/>
          <a:p>
            <a:pPr algn="l">
              <a:lnSpc>
                <a:spcPct val="92000"/>
              </a:lnSpc>
              <a:spcBef>
                <a:spcPts val="0"/>
              </a:spcBef>
              <a:spcAft>
                <a:spcPts val="600"/>
              </a:spcAft>
            </a:pPr>
            <a:r>
              <a:rPr sz="1450" b="1" i="0">
                <a:solidFill>
                  <a:srgbClr val="1F4D3E"/>
                </a:solidFill>
                <a:latin typeface="Calibri"/>
              </a:rPr>
              <a:t>Cannibalization  </a:t>
            </a:r>
            <a:r>
              <a:rPr sz="1250" b="0" i="0">
                <a:solidFill>
                  <a:srgbClr val="5C676B"/>
                </a:solidFill>
                <a:latin typeface="Calibri"/>
              </a:rPr>
              <a:t>Risk a new site steals sales from your own branches.</a:t>
            </a:r>
          </a:p>
        </p:txBody>
      </p:sp>
      <p:sp>
        <p:nvSpPr>
          <p:cNvPr id="22" name="Rounded Rectangle 21"/>
          <p:cNvSpPr/>
          <p:nvPr/>
        </p:nvSpPr>
        <p:spPr>
          <a:xfrm>
            <a:off x="777240" y="5257800"/>
            <a:ext cx="5303520" cy="658368"/>
          </a:xfrm>
          <a:prstGeom prst="roundRect">
            <a:avLst/>
          </a:prstGeom>
          <a:solidFill>
            <a:srgbClr val="FFFFFF"/>
          </a:solidFill>
          <a:ln w="12700">
            <a:solidFill>
              <a:srgbClr val="E2DD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777240" y="5257800"/>
            <a:ext cx="82296" cy="658368"/>
          </a:xfrm>
          <a:prstGeom prst="roundRect">
            <a:avLst/>
          </a:prstGeom>
          <a:solidFill>
            <a:srgbClr val="3C8C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005840" y="5285232"/>
            <a:ext cx="4937760" cy="603504"/>
          </a:xfrm>
          <a:prstGeom prst="rect">
            <a:avLst/>
          </a:prstGeom>
          <a:noFill/>
        </p:spPr>
        <p:txBody>
          <a:bodyPr wrap="square" anchor="ctr" lIns="25400" rIns="25400" tIns="25400" bIns="25400">
            <a:spAutoFit/>
          </a:bodyPr>
          <a:lstStyle/>
          <a:p>
            <a:pPr algn="l">
              <a:lnSpc>
                <a:spcPct val="92000"/>
              </a:lnSpc>
              <a:spcBef>
                <a:spcPts val="0"/>
              </a:spcBef>
              <a:spcAft>
                <a:spcPts val="600"/>
              </a:spcAft>
            </a:pPr>
            <a:r>
              <a:rPr sz="1450" b="1" i="0">
                <a:solidFill>
                  <a:srgbClr val="1F4D3E"/>
                </a:solidFill>
                <a:latin typeface="Calibri"/>
              </a:rPr>
              <a:t>Confidence (A–D)  </a:t>
            </a:r>
            <a:r>
              <a:rPr sz="1250" b="0" i="0">
                <a:solidFill>
                  <a:srgbClr val="5C676B"/>
                </a:solidFill>
                <a:latin typeface="Calibri"/>
              </a:rPr>
              <a:t>How reliable the estimates are. A is best.</a:t>
            </a:r>
          </a:p>
        </p:txBody>
      </p:sp>
      <p:sp>
        <p:nvSpPr>
          <p:cNvPr id="25" name="Rounded Rectangle 24"/>
          <p:cNvSpPr/>
          <p:nvPr/>
        </p:nvSpPr>
        <p:spPr>
          <a:xfrm>
            <a:off x="6172200" y="1508760"/>
            <a:ext cx="5303520" cy="658368"/>
          </a:xfrm>
          <a:prstGeom prst="roundRect">
            <a:avLst/>
          </a:prstGeom>
          <a:solidFill>
            <a:srgbClr val="FFFFFF"/>
          </a:solidFill>
          <a:ln w="12700">
            <a:solidFill>
              <a:srgbClr val="E2DD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6172200" y="1508760"/>
            <a:ext cx="82296" cy="658368"/>
          </a:xfrm>
          <a:prstGeom prst="roundRect">
            <a:avLst/>
          </a:prstGeom>
          <a:solidFill>
            <a:srgbClr val="3C8C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400800" y="1536192"/>
            <a:ext cx="4937760" cy="603504"/>
          </a:xfrm>
          <a:prstGeom prst="rect">
            <a:avLst/>
          </a:prstGeom>
          <a:noFill/>
        </p:spPr>
        <p:txBody>
          <a:bodyPr wrap="square" anchor="ctr" lIns="25400" rIns="25400" tIns="25400" bIns="25400">
            <a:spAutoFit/>
          </a:bodyPr>
          <a:lstStyle/>
          <a:p>
            <a:pPr algn="l">
              <a:lnSpc>
                <a:spcPct val="92000"/>
              </a:lnSpc>
              <a:spcBef>
                <a:spcPts val="0"/>
              </a:spcBef>
              <a:spcAft>
                <a:spcPts val="600"/>
              </a:spcAft>
            </a:pPr>
            <a:r>
              <a:rPr sz="1450" b="1" i="0">
                <a:solidFill>
                  <a:srgbClr val="1F4D3E"/>
                </a:solidFill>
                <a:latin typeface="Calibri"/>
              </a:rPr>
              <a:t>Gate  </a:t>
            </a:r>
            <a:r>
              <a:rPr sz="1250" b="0" i="0">
                <a:solidFill>
                  <a:srgbClr val="5C676B"/>
                </a:solidFill>
                <a:latin typeface="Calibri"/>
              </a:rPr>
              <a:t>A pass / fail safety check on a site.</a:t>
            </a:r>
          </a:p>
        </p:txBody>
      </p:sp>
      <p:sp>
        <p:nvSpPr>
          <p:cNvPr id="28" name="Rounded Rectangle 27"/>
          <p:cNvSpPr/>
          <p:nvPr/>
        </p:nvSpPr>
        <p:spPr>
          <a:xfrm>
            <a:off x="6172200" y="2258568"/>
            <a:ext cx="5303520" cy="658368"/>
          </a:xfrm>
          <a:prstGeom prst="roundRect">
            <a:avLst/>
          </a:prstGeom>
          <a:solidFill>
            <a:srgbClr val="FFFFFF"/>
          </a:solidFill>
          <a:ln w="12700">
            <a:solidFill>
              <a:srgbClr val="E2DD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6172200" y="2258568"/>
            <a:ext cx="82296" cy="658368"/>
          </a:xfrm>
          <a:prstGeom prst="roundRect">
            <a:avLst/>
          </a:prstGeom>
          <a:solidFill>
            <a:srgbClr val="3C8C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400800" y="2286000"/>
            <a:ext cx="4937760" cy="603504"/>
          </a:xfrm>
          <a:prstGeom prst="rect">
            <a:avLst/>
          </a:prstGeom>
          <a:noFill/>
        </p:spPr>
        <p:txBody>
          <a:bodyPr wrap="square" anchor="ctr" lIns="25400" rIns="25400" tIns="25400" bIns="25400">
            <a:spAutoFit/>
          </a:bodyPr>
          <a:lstStyle/>
          <a:p>
            <a:pPr algn="l">
              <a:lnSpc>
                <a:spcPct val="92000"/>
              </a:lnSpc>
              <a:spcBef>
                <a:spcPts val="0"/>
              </a:spcBef>
              <a:spcAft>
                <a:spcPts val="600"/>
              </a:spcAft>
            </a:pPr>
            <a:r>
              <a:rPr sz="1450" b="1" i="0">
                <a:solidFill>
                  <a:srgbClr val="1F4D3E"/>
                </a:solidFill>
                <a:latin typeface="Calibri"/>
              </a:rPr>
              <a:t>Tier  </a:t>
            </a:r>
            <a:r>
              <a:rPr sz="1250" b="0" i="0">
                <a:solidFill>
                  <a:srgbClr val="5C676B"/>
                </a:solidFill>
                <a:latin typeface="Calibri"/>
              </a:rPr>
              <a:t>Quality label: Premier, Standard or Exploratory.</a:t>
            </a:r>
          </a:p>
        </p:txBody>
      </p:sp>
      <p:sp>
        <p:nvSpPr>
          <p:cNvPr id="31" name="Rounded Rectangle 30"/>
          <p:cNvSpPr/>
          <p:nvPr/>
        </p:nvSpPr>
        <p:spPr>
          <a:xfrm>
            <a:off x="6172200" y="3008376"/>
            <a:ext cx="5303520" cy="658368"/>
          </a:xfrm>
          <a:prstGeom prst="roundRect">
            <a:avLst/>
          </a:prstGeom>
          <a:solidFill>
            <a:srgbClr val="FFFFFF"/>
          </a:solidFill>
          <a:ln w="12700">
            <a:solidFill>
              <a:srgbClr val="E2DD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ounded Rectangle 31"/>
          <p:cNvSpPr/>
          <p:nvPr/>
        </p:nvSpPr>
        <p:spPr>
          <a:xfrm>
            <a:off x="6172200" y="3008376"/>
            <a:ext cx="82296" cy="658368"/>
          </a:xfrm>
          <a:prstGeom prst="roundRect">
            <a:avLst/>
          </a:prstGeom>
          <a:solidFill>
            <a:srgbClr val="3C8C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400800" y="3035808"/>
            <a:ext cx="4937760" cy="603504"/>
          </a:xfrm>
          <a:prstGeom prst="rect">
            <a:avLst/>
          </a:prstGeom>
          <a:noFill/>
        </p:spPr>
        <p:txBody>
          <a:bodyPr wrap="square" anchor="ctr" lIns="25400" rIns="25400" tIns="25400" bIns="25400">
            <a:spAutoFit/>
          </a:bodyPr>
          <a:lstStyle/>
          <a:p>
            <a:pPr algn="l">
              <a:lnSpc>
                <a:spcPct val="92000"/>
              </a:lnSpc>
              <a:spcBef>
                <a:spcPts val="0"/>
              </a:spcBef>
              <a:spcAft>
                <a:spcPts val="600"/>
              </a:spcAft>
            </a:pPr>
            <a:r>
              <a:rPr sz="1450" b="1" i="0">
                <a:solidFill>
                  <a:srgbClr val="1F4D3E"/>
                </a:solidFill>
                <a:latin typeface="Calibri"/>
              </a:rPr>
              <a:t>Delivery market  </a:t>
            </a:r>
            <a:r>
              <a:rPr sz="1250" b="0" i="0">
                <a:solidFill>
                  <a:srgbClr val="5C676B"/>
                </a:solidFill>
                <a:latin typeface="Calibri"/>
              </a:rPr>
              <a:t>How active food-delivery apps are in the area.</a:t>
            </a:r>
          </a:p>
        </p:txBody>
      </p:sp>
      <p:sp>
        <p:nvSpPr>
          <p:cNvPr id="34" name="Rounded Rectangle 33"/>
          <p:cNvSpPr/>
          <p:nvPr/>
        </p:nvSpPr>
        <p:spPr>
          <a:xfrm>
            <a:off x="6172200" y="3758184"/>
            <a:ext cx="5303520" cy="658368"/>
          </a:xfrm>
          <a:prstGeom prst="roundRect">
            <a:avLst/>
          </a:prstGeom>
          <a:solidFill>
            <a:srgbClr val="FFFFFF"/>
          </a:solidFill>
          <a:ln w="12700">
            <a:solidFill>
              <a:srgbClr val="E2DD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ounded Rectangle 34"/>
          <p:cNvSpPr/>
          <p:nvPr/>
        </p:nvSpPr>
        <p:spPr>
          <a:xfrm>
            <a:off x="6172200" y="3758184"/>
            <a:ext cx="82296" cy="658368"/>
          </a:xfrm>
          <a:prstGeom prst="roundRect">
            <a:avLst/>
          </a:prstGeom>
          <a:solidFill>
            <a:srgbClr val="3C8C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400800" y="3785616"/>
            <a:ext cx="4937760" cy="603504"/>
          </a:xfrm>
          <a:prstGeom prst="rect">
            <a:avLst/>
          </a:prstGeom>
          <a:noFill/>
        </p:spPr>
        <p:txBody>
          <a:bodyPr wrap="square" anchor="ctr" lIns="25400" rIns="25400" tIns="25400" bIns="25400">
            <a:spAutoFit/>
          </a:bodyPr>
          <a:lstStyle/>
          <a:p>
            <a:pPr algn="l">
              <a:lnSpc>
                <a:spcPct val="92000"/>
              </a:lnSpc>
              <a:spcBef>
                <a:spcPts val="0"/>
              </a:spcBef>
              <a:spcAft>
                <a:spcPts val="600"/>
              </a:spcAft>
            </a:pPr>
            <a:r>
              <a:rPr sz="1450" b="1" i="0">
                <a:solidFill>
                  <a:srgbClr val="1F4D3E"/>
                </a:solidFill>
                <a:latin typeface="Calibri"/>
              </a:rPr>
              <a:t>Provider density  </a:t>
            </a:r>
            <a:r>
              <a:rPr sz="1250" b="0" i="0">
                <a:solidFill>
                  <a:srgbClr val="5C676B"/>
                </a:solidFill>
                <a:latin typeface="Calibri"/>
              </a:rPr>
              <a:t>How many delivery platforms cover the area.</a:t>
            </a:r>
          </a:p>
        </p:txBody>
      </p:sp>
      <p:sp>
        <p:nvSpPr>
          <p:cNvPr id="37" name="Rounded Rectangle 36"/>
          <p:cNvSpPr/>
          <p:nvPr/>
        </p:nvSpPr>
        <p:spPr>
          <a:xfrm>
            <a:off x="6172200" y="4507992"/>
            <a:ext cx="5303520" cy="658368"/>
          </a:xfrm>
          <a:prstGeom prst="roundRect">
            <a:avLst/>
          </a:prstGeom>
          <a:solidFill>
            <a:srgbClr val="FFFFFF"/>
          </a:solidFill>
          <a:ln w="12700">
            <a:solidFill>
              <a:srgbClr val="E2DD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ounded Rectangle 37"/>
          <p:cNvSpPr/>
          <p:nvPr/>
        </p:nvSpPr>
        <p:spPr>
          <a:xfrm>
            <a:off x="6172200" y="4507992"/>
            <a:ext cx="82296" cy="658368"/>
          </a:xfrm>
          <a:prstGeom prst="roundRect">
            <a:avLst/>
          </a:prstGeom>
          <a:solidFill>
            <a:srgbClr val="3C8C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400800" y="4535424"/>
            <a:ext cx="4937760" cy="603504"/>
          </a:xfrm>
          <a:prstGeom prst="rect">
            <a:avLst/>
          </a:prstGeom>
          <a:noFill/>
        </p:spPr>
        <p:txBody>
          <a:bodyPr wrap="square" anchor="ctr" lIns="25400" rIns="25400" tIns="25400" bIns="25400">
            <a:spAutoFit/>
          </a:bodyPr>
          <a:lstStyle/>
          <a:p>
            <a:pPr algn="l">
              <a:lnSpc>
                <a:spcPct val="92000"/>
              </a:lnSpc>
              <a:spcBef>
                <a:spcPts val="0"/>
              </a:spcBef>
              <a:spcAft>
                <a:spcPts val="600"/>
              </a:spcAft>
            </a:pPr>
            <a:r>
              <a:rPr sz="1450" b="1" i="0">
                <a:solidFill>
                  <a:srgbClr val="1F4D3E"/>
                </a:solidFill>
                <a:latin typeface="Calibri"/>
              </a:rPr>
              <a:t>Comparable competitors  </a:t>
            </a:r>
            <a:r>
              <a:rPr sz="1250" b="0" i="0">
                <a:solidFill>
                  <a:srgbClr val="5C676B"/>
                </a:solidFill>
                <a:latin typeface="Calibri"/>
              </a:rPr>
              <a:t>Nearby rivals in your category, with ratings.</a:t>
            </a:r>
          </a:p>
        </p:txBody>
      </p:sp>
      <p:sp>
        <p:nvSpPr>
          <p:cNvPr id="40" name="Rounded Rectangle 39"/>
          <p:cNvSpPr/>
          <p:nvPr/>
        </p:nvSpPr>
        <p:spPr>
          <a:xfrm>
            <a:off x="6172200" y="5257800"/>
            <a:ext cx="5303520" cy="658368"/>
          </a:xfrm>
          <a:prstGeom prst="roundRect">
            <a:avLst/>
          </a:prstGeom>
          <a:solidFill>
            <a:srgbClr val="FFFFFF"/>
          </a:solidFill>
          <a:ln w="12700">
            <a:solidFill>
              <a:srgbClr val="E2DD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ounded Rectangle 40"/>
          <p:cNvSpPr/>
          <p:nvPr/>
        </p:nvSpPr>
        <p:spPr>
          <a:xfrm>
            <a:off x="6172200" y="5257800"/>
            <a:ext cx="82296" cy="658368"/>
          </a:xfrm>
          <a:prstGeom prst="roundRect">
            <a:avLst/>
          </a:prstGeom>
          <a:solidFill>
            <a:srgbClr val="3C8C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400800" y="5285232"/>
            <a:ext cx="4937760" cy="603504"/>
          </a:xfrm>
          <a:prstGeom prst="rect">
            <a:avLst/>
          </a:prstGeom>
          <a:noFill/>
        </p:spPr>
        <p:txBody>
          <a:bodyPr wrap="square" anchor="ctr" lIns="25400" rIns="25400" tIns="25400" bIns="25400">
            <a:spAutoFit/>
          </a:bodyPr>
          <a:lstStyle/>
          <a:p>
            <a:pPr algn="l">
              <a:lnSpc>
                <a:spcPct val="92000"/>
              </a:lnSpc>
              <a:spcBef>
                <a:spcPts val="0"/>
              </a:spcBef>
              <a:spcAft>
                <a:spcPts val="600"/>
              </a:spcAft>
            </a:pPr>
            <a:r>
              <a:rPr sz="1450" b="1" i="0">
                <a:solidFill>
                  <a:srgbClr val="1F4D3E"/>
                </a:solidFill>
                <a:latin typeface="Calibri"/>
              </a:rPr>
              <a:t>Shortlist  </a:t>
            </a:r>
            <a:r>
              <a:rPr sz="1250" b="0" i="0">
                <a:solidFill>
                  <a:srgbClr val="5C676B"/>
                </a:solidFill>
                <a:latin typeface="Calibri"/>
              </a:rPr>
              <a:t>Your saved set of promising sites to review.</a:t>
            </a:r>
          </a:p>
        </p:txBody>
      </p:sp>
      <p:sp>
        <p:nvSpPr>
          <p:cNvPr id="43" name="TextBox 42"/>
          <p:cNvSpPr txBox="1"/>
          <p:nvPr/>
        </p:nvSpPr>
        <p:spPr>
          <a:xfrm>
            <a:off x="502920" y="6419088"/>
            <a:ext cx="7315200" cy="320040"/>
          </a:xfrm>
          <a:prstGeom prst="rect">
            <a:avLst/>
          </a:prstGeom>
          <a:noFill/>
        </p:spPr>
        <p:txBody>
          <a:bodyPr wrap="square" anchor="t" lIns="25400" rIns="25400" tIns="25400" bIns="25400">
            <a:spAutoFit/>
          </a:bodyPr>
          <a:lstStyle/>
          <a:p>
            <a:pPr algn="l">
              <a:lnSpc>
                <a:spcPct val="105000"/>
              </a:lnSpc>
              <a:spcBef>
                <a:spcPts val="0"/>
              </a:spcBef>
              <a:spcAft>
                <a:spcPts val="600"/>
              </a:spcAft>
            </a:pPr>
            <a:r>
              <a:rPr sz="1000" b="0" i="0">
                <a:solidFill>
                  <a:srgbClr val="5C676B"/>
                </a:solidFill>
                <a:latin typeface="Calibri"/>
              </a:rPr>
              <a:t>Oaktree Atlas  ·  Expansion Advisor User Guide</a:t>
            </a:r>
          </a:p>
        </p:txBody>
      </p:sp>
      <p:sp>
        <p:nvSpPr>
          <p:cNvPr id="44" name="TextBox 43"/>
          <p:cNvSpPr txBox="1"/>
          <p:nvPr/>
        </p:nvSpPr>
        <p:spPr>
          <a:xfrm>
            <a:off x="10058400" y="6419088"/>
            <a:ext cx="1645920" cy="320040"/>
          </a:xfrm>
          <a:prstGeom prst="rect">
            <a:avLst/>
          </a:prstGeom>
          <a:noFill/>
        </p:spPr>
        <p:txBody>
          <a:bodyPr wrap="square" anchor="t" lIns="25400" rIns="25400" tIns="25400" bIns="25400">
            <a:spAutoFit/>
          </a:bodyPr>
          <a:lstStyle/>
          <a:p>
            <a:pPr algn="r">
              <a:lnSpc>
                <a:spcPct val="105000"/>
              </a:lnSpc>
              <a:spcBef>
                <a:spcPts val="0"/>
              </a:spcBef>
              <a:spcAft>
                <a:spcPts val="600"/>
              </a:spcAft>
            </a:pPr>
            <a:r>
              <a:rPr sz="1000" b="1" i="0">
                <a:solidFill>
                  <a:srgbClr val="5C676B"/>
                </a:solidFill>
                <a:latin typeface="Calibri"/>
              </a:rPr>
              <a:t>9</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F4D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858000"/>
          </a:xfrm>
          <a:prstGeom prst="rect">
            <a:avLst/>
          </a:prstGeom>
          <a:solidFill>
            <a:srgbClr val="1F4D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320040" cy="6858000"/>
          </a:xfrm>
          <a:prstGeom prst="rect">
            <a:avLst/>
          </a:prstGeom>
          <a:solidFill>
            <a:srgbClr val="3C8C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640080"/>
            <a:ext cx="10515600" cy="731520"/>
          </a:xfrm>
          <a:prstGeom prst="rect">
            <a:avLst/>
          </a:prstGeom>
          <a:noFill/>
        </p:spPr>
        <p:txBody>
          <a:bodyPr wrap="square" anchor="t" lIns="25400" rIns="25400" tIns="25400" bIns="25400">
            <a:spAutoFit/>
          </a:bodyPr>
          <a:lstStyle/>
          <a:p>
            <a:pPr algn="l">
              <a:lnSpc>
                <a:spcPct val="105000"/>
              </a:lnSpc>
              <a:spcBef>
                <a:spcPts val="0"/>
              </a:spcBef>
              <a:spcAft>
                <a:spcPts val="600"/>
              </a:spcAft>
            </a:pPr>
            <a:r>
              <a:rPr sz="3400" b="1" i="0">
                <a:solidFill>
                  <a:srgbClr val="FFFFFF"/>
                </a:solidFill>
                <a:latin typeface="Calibri"/>
              </a:rPr>
              <a:t>A few tips to get the best results</a:t>
            </a:r>
          </a:p>
        </p:txBody>
      </p:sp>
      <p:sp>
        <p:nvSpPr>
          <p:cNvPr id="6" name="Oval 5"/>
          <p:cNvSpPr/>
          <p:nvPr/>
        </p:nvSpPr>
        <p:spPr>
          <a:xfrm>
            <a:off x="868680" y="1691640"/>
            <a:ext cx="365760" cy="365760"/>
          </a:xfrm>
          <a:prstGeom prst="ellipse">
            <a:avLst/>
          </a:prstGeom>
          <a:solidFill>
            <a:srgbClr val="3C8C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FFFFFF"/>
                </a:solidFill>
              </a:rPr>
              <a:t>✓</a:t>
            </a:r>
          </a:p>
        </p:txBody>
      </p:sp>
      <p:sp>
        <p:nvSpPr>
          <p:cNvPr id="7" name="TextBox 6"/>
          <p:cNvSpPr txBox="1"/>
          <p:nvPr/>
        </p:nvSpPr>
        <p:spPr>
          <a:xfrm>
            <a:off x="1463040" y="1645920"/>
            <a:ext cx="9875520" cy="777240"/>
          </a:xfrm>
          <a:prstGeom prst="rect">
            <a:avLst/>
          </a:prstGeom>
          <a:noFill/>
        </p:spPr>
        <p:txBody>
          <a:bodyPr wrap="square" anchor="ctr" lIns="25400" rIns="25400" tIns="25400" bIns="25400">
            <a:spAutoFit/>
          </a:bodyPr>
          <a:lstStyle/>
          <a:p>
            <a:pPr algn="l">
              <a:lnSpc>
                <a:spcPct val="100000"/>
              </a:lnSpc>
              <a:spcBef>
                <a:spcPts val="0"/>
              </a:spcBef>
              <a:spcAft>
                <a:spcPts val="600"/>
              </a:spcAft>
            </a:pPr>
            <a:r>
              <a:rPr sz="1800" b="1" i="0">
                <a:solidFill>
                  <a:srgbClr val="FFFFFF"/>
                </a:solidFill>
                <a:latin typeface="Calibri"/>
              </a:rPr>
              <a:t>Always add your existing branches.   </a:t>
            </a:r>
            <a:r>
              <a:rPr sz="1500" b="0" i="0">
                <a:solidFill>
                  <a:srgbClr val="CFE3D7"/>
                </a:solidFill>
                <a:latin typeface="Calibri"/>
              </a:rPr>
              <a:t>It's the only way the Advisor can protect you from cannibalization.</a:t>
            </a:r>
          </a:p>
        </p:txBody>
      </p:sp>
      <p:sp>
        <p:nvSpPr>
          <p:cNvPr id="8" name="Oval 7"/>
          <p:cNvSpPr/>
          <p:nvPr/>
        </p:nvSpPr>
        <p:spPr>
          <a:xfrm>
            <a:off x="868680" y="2532888"/>
            <a:ext cx="365760" cy="365760"/>
          </a:xfrm>
          <a:prstGeom prst="ellipse">
            <a:avLst/>
          </a:prstGeom>
          <a:solidFill>
            <a:srgbClr val="3C8C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FFFFFF"/>
                </a:solidFill>
              </a:rPr>
              <a:t>✓</a:t>
            </a:r>
          </a:p>
        </p:txBody>
      </p:sp>
      <p:sp>
        <p:nvSpPr>
          <p:cNvPr id="9" name="TextBox 8"/>
          <p:cNvSpPr txBox="1"/>
          <p:nvPr/>
        </p:nvSpPr>
        <p:spPr>
          <a:xfrm>
            <a:off x="1463040" y="2487168"/>
            <a:ext cx="9875520" cy="777240"/>
          </a:xfrm>
          <a:prstGeom prst="rect">
            <a:avLst/>
          </a:prstGeom>
          <a:noFill/>
        </p:spPr>
        <p:txBody>
          <a:bodyPr wrap="square" anchor="ctr" lIns="25400" rIns="25400" tIns="25400" bIns="25400">
            <a:spAutoFit/>
          </a:bodyPr>
          <a:lstStyle/>
          <a:p>
            <a:pPr algn="l">
              <a:lnSpc>
                <a:spcPct val="100000"/>
              </a:lnSpc>
              <a:spcBef>
                <a:spcPts val="0"/>
              </a:spcBef>
              <a:spcAft>
                <a:spcPts val="600"/>
              </a:spcAft>
            </a:pPr>
            <a:r>
              <a:rPr sz="1800" b="1" i="0">
                <a:solidFill>
                  <a:srgbClr val="FFFFFF"/>
                </a:solidFill>
                <a:latin typeface="Calibri"/>
              </a:rPr>
              <a:t>Be honest about your service model.   </a:t>
            </a:r>
            <a:r>
              <a:rPr sz="1500" b="0" i="0">
                <a:solidFill>
                  <a:srgbClr val="CFE3D7"/>
                </a:solidFill>
                <a:latin typeface="Calibri"/>
              </a:rPr>
              <a:t>A delivery-first brand and a dine-in brand get scored very differently.</a:t>
            </a:r>
          </a:p>
        </p:txBody>
      </p:sp>
      <p:sp>
        <p:nvSpPr>
          <p:cNvPr id="10" name="Oval 9"/>
          <p:cNvSpPr/>
          <p:nvPr/>
        </p:nvSpPr>
        <p:spPr>
          <a:xfrm>
            <a:off x="868680" y="3374136"/>
            <a:ext cx="365760" cy="365760"/>
          </a:xfrm>
          <a:prstGeom prst="ellipse">
            <a:avLst/>
          </a:prstGeom>
          <a:solidFill>
            <a:srgbClr val="3C8C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FFFFFF"/>
                </a:solidFill>
              </a:rPr>
              <a:t>✓</a:t>
            </a:r>
          </a:p>
        </p:txBody>
      </p:sp>
      <p:sp>
        <p:nvSpPr>
          <p:cNvPr id="11" name="TextBox 10"/>
          <p:cNvSpPr txBox="1"/>
          <p:nvPr/>
        </p:nvSpPr>
        <p:spPr>
          <a:xfrm>
            <a:off x="1463040" y="3328416"/>
            <a:ext cx="9875520" cy="777240"/>
          </a:xfrm>
          <a:prstGeom prst="rect">
            <a:avLst/>
          </a:prstGeom>
          <a:noFill/>
        </p:spPr>
        <p:txBody>
          <a:bodyPr wrap="square" anchor="ctr" lIns="25400" rIns="25400" tIns="25400" bIns="25400">
            <a:spAutoFit/>
          </a:bodyPr>
          <a:lstStyle/>
          <a:p>
            <a:pPr algn="l">
              <a:lnSpc>
                <a:spcPct val="100000"/>
              </a:lnSpc>
              <a:spcBef>
                <a:spcPts val="0"/>
              </a:spcBef>
              <a:spcAft>
                <a:spcPts val="600"/>
              </a:spcAft>
            </a:pPr>
            <a:r>
              <a:rPr sz="1800" b="1" i="0">
                <a:solidFill>
                  <a:srgbClr val="FFFFFF"/>
                </a:solidFill>
                <a:latin typeface="Calibri"/>
              </a:rPr>
              <a:t>Start city-wide, then narrow.   </a:t>
            </a:r>
            <a:r>
              <a:rPr sz="1500" b="0" i="0">
                <a:solidFill>
                  <a:srgbClr val="CFE3D7"/>
                </a:solidFill>
                <a:latin typeface="Calibri"/>
              </a:rPr>
              <a:t>Leave target districts empty first to discover areas you hadn't considered.</a:t>
            </a:r>
          </a:p>
        </p:txBody>
      </p:sp>
      <p:sp>
        <p:nvSpPr>
          <p:cNvPr id="12" name="Oval 11"/>
          <p:cNvSpPr/>
          <p:nvPr/>
        </p:nvSpPr>
        <p:spPr>
          <a:xfrm>
            <a:off x="868680" y="4215384"/>
            <a:ext cx="365760" cy="365760"/>
          </a:xfrm>
          <a:prstGeom prst="ellipse">
            <a:avLst/>
          </a:prstGeom>
          <a:solidFill>
            <a:srgbClr val="3C8C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FFFFFF"/>
                </a:solidFill>
              </a:rPr>
              <a:t>✓</a:t>
            </a:r>
          </a:p>
        </p:txBody>
      </p:sp>
      <p:sp>
        <p:nvSpPr>
          <p:cNvPr id="13" name="TextBox 12"/>
          <p:cNvSpPr txBox="1"/>
          <p:nvPr/>
        </p:nvSpPr>
        <p:spPr>
          <a:xfrm>
            <a:off x="1463040" y="4169664"/>
            <a:ext cx="9875520" cy="777240"/>
          </a:xfrm>
          <a:prstGeom prst="rect">
            <a:avLst/>
          </a:prstGeom>
          <a:noFill/>
        </p:spPr>
        <p:txBody>
          <a:bodyPr wrap="square" anchor="ctr" lIns="25400" rIns="25400" tIns="25400" bIns="25400">
            <a:spAutoFit/>
          </a:bodyPr>
          <a:lstStyle/>
          <a:p>
            <a:pPr algn="l">
              <a:lnSpc>
                <a:spcPct val="100000"/>
              </a:lnSpc>
              <a:spcBef>
                <a:spcPts val="0"/>
              </a:spcBef>
              <a:spcAft>
                <a:spcPts val="600"/>
              </a:spcAft>
            </a:pPr>
            <a:r>
              <a:rPr sz="1800" b="1" i="0">
                <a:solidFill>
                  <a:srgbClr val="FFFFFF"/>
                </a:solidFill>
                <a:latin typeface="Calibri"/>
              </a:rPr>
              <a:t>Treat “Unknown” as “go check it”.   </a:t>
            </a:r>
            <a:r>
              <a:rPr sz="1500" b="0" i="0">
                <a:solidFill>
                  <a:srgbClr val="CFE3D7"/>
                </a:solidFill>
                <a:latin typeface="Calibri"/>
              </a:rPr>
              <a:t>It usually means missing data, not a bad site — a quick visit settles it.</a:t>
            </a:r>
          </a:p>
        </p:txBody>
      </p:sp>
      <p:sp>
        <p:nvSpPr>
          <p:cNvPr id="14" name="Oval 13"/>
          <p:cNvSpPr/>
          <p:nvPr/>
        </p:nvSpPr>
        <p:spPr>
          <a:xfrm>
            <a:off x="868680" y="5056632"/>
            <a:ext cx="365760" cy="365760"/>
          </a:xfrm>
          <a:prstGeom prst="ellipse">
            <a:avLst/>
          </a:prstGeom>
          <a:solidFill>
            <a:srgbClr val="3C8C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FFFFFF"/>
                </a:solidFill>
              </a:rPr>
              <a:t>✓</a:t>
            </a:r>
          </a:p>
        </p:txBody>
      </p:sp>
      <p:sp>
        <p:nvSpPr>
          <p:cNvPr id="15" name="TextBox 14"/>
          <p:cNvSpPr txBox="1"/>
          <p:nvPr/>
        </p:nvSpPr>
        <p:spPr>
          <a:xfrm>
            <a:off x="1463040" y="5010912"/>
            <a:ext cx="9875520" cy="777240"/>
          </a:xfrm>
          <a:prstGeom prst="rect">
            <a:avLst/>
          </a:prstGeom>
          <a:noFill/>
        </p:spPr>
        <p:txBody>
          <a:bodyPr wrap="square" anchor="ctr" lIns="25400" rIns="25400" tIns="25400" bIns="25400">
            <a:spAutoFit/>
          </a:bodyPr>
          <a:lstStyle/>
          <a:p>
            <a:pPr algn="l">
              <a:lnSpc>
                <a:spcPct val="100000"/>
              </a:lnSpc>
              <a:spcBef>
                <a:spcPts val="0"/>
              </a:spcBef>
              <a:spcAft>
                <a:spcPts val="600"/>
              </a:spcAft>
            </a:pPr>
            <a:r>
              <a:rPr sz="1800" b="1" i="0">
                <a:solidFill>
                  <a:srgbClr val="FFFFFF"/>
                </a:solidFill>
                <a:latin typeface="Calibri"/>
              </a:rPr>
              <a:t>Use the memo to win buy-in.   </a:t>
            </a:r>
            <a:r>
              <a:rPr sz="1500" b="0" i="0">
                <a:solidFill>
                  <a:srgbClr val="CFE3D7"/>
                </a:solidFill>
                <a:latin typeface="Calibri"/>
              </a:rPr>
              <a:t>It's written for partners and investors, not engineers.</a:t>
            </a:r>
          </a:p>
        </p:txBody>
      </p:sp>
      <p:sp>
        <p:nvSpPr>
          <p:cNvPr id="16" name="TextBox 15"/>
          <p:cNvSpPr txBox="1"/>
          <p:nvPr/>
        </p:nvSpPr>
        <p:spPr>
          <a:xfrm>
            <a:off x="822960" y="6126480"/>
            <a:ext cx="10515600" cy="457200"/>
          </a:xfrm>
          <a:prstGeom prst="rect">
            <a:avLst/>
          </a:prstGeom>
          <a:noFill/>
        </p:spPr>
        <p:txBody>
          <a:bodyPr wrap="square" anchor="t" lIns="25400" rIns="25400" tIns="25400" bIns="25400">
            <a:spAutoFit/>
          </a:bodyPr>
          <a:lstStyle/>
          <a:p>
            <a:pPr algn="l">
              <a:lnSpc>
                <a:spcPct val="105000"/>
              </a:lnSpc>
              <a:spcBef>
                <a:spcPts val="0"/>
              </a:spcBef>
              <a:spcAft>
                <a:spcPts val="600"/>
              </a:spcAft>
            </a:pPr>
            <a:r>
              <a:rPr sz="1400" b="0" i="1">
                <a:solidFill>
                  <a:srgbClr val="9CC4AD"/>
                </a:solidFill>
                <a:latin typeface="Calibri"/>
              </a:rPr>
              <a:t>Oaktree Atlas · Expansion Advisor — smarter F&amp;B expansion in Riyadh.</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